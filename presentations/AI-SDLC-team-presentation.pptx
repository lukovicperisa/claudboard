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31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175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747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607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895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39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183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327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899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471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704320" y="3657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43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887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6459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1031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0175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747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319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91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8463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035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2179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6751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1323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5895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0467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039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611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4183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8755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327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7899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2471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704320" y="7315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743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315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887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6459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031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5603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0175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4747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9319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3891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8463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35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7607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2179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6751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1323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895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0467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5039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9611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183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8755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3327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7899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2471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1704320" y="10972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743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315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887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6459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1031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5603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0175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4747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9319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3891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8463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3035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7607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2179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6751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1323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5895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0467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5039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9611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4183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98755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3327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7899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2471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704320" y="14630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743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315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887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6459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1031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5603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0175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4747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9319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3891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8463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035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7607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2179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6751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1323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5895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0467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039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9611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94183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98755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3327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07899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2471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704320" y="18288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2743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315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1887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6459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1031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25603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0175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4747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9319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3891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8463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3035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7607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2179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6751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1323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75895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0467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5039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9611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94183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98755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3327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899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12471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1704320" y="21945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2743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15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887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6459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1031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25603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0175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34747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9319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43891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48463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53035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7607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62179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66751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1323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5895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80467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85039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9611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4183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8755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3327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7899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04320" y="256032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315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1887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6459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1031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5603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0175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34747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39319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43891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48463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53035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57607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62179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66751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71323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75895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0467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5039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9611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4183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8755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03327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07899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12471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1704320" y="292608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743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7315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1887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6459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21031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25603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30175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34747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39319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43891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48463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3035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57607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62179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66751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71323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75895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80467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85039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9611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94183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98755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327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7899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12471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1704320" y="329184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2743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315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1887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459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21031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25603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30175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34747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39319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3891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48463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3035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57607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62179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66751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71323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75895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80467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85039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89611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94183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98755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3327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07899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2471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704320" y="365760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2743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315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6459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1031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25603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30175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34747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39319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43891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53035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57607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2179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66751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71323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75895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0467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85039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89611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94183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03327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07899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2471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1704320" y="4023360"/>
            <a:ext cx="27432" cy="27432"/>
          </a:xfrm>
          <a:prstGeom prst="ellipse">
            <a:avLst/>
          </a:prstGeom>
          <a:solidFill>
            <a:srgbClr val="20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ounded Rectangle 288"/>
          <p:cNvSpPr/>
          <p:nvPr/>
        </p:nvSpPr>
        <p:spPr>
          <a:xfrm>
            <a:off x="548640" y="548640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48640" y="548640"/>
            <a:ext cx="29260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932688" y="56692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1965960" y="603504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965960" y="594360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7315200" y="59436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797B83"/>
                </a:solidFill>
                <a:latin typeface="Inter"/>
              </a:rPr>
              <a:t>TEAM REVIEW  ·  50-DAY BUILD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48640" y="2194560"/>
            <a:ext cx="1097280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DD5DA"/>
                </a:solidFill>
                <a:latin typeface="Menlo"/>
              </a:rPr>
              <a:t>AUTONOMOUS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548640" y="2514600"/>
            <a:ext cx="1097280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EDEDEF"/>
                </a:solidFill>
                <a:latin typeface="Inter"/>
              </a:rPr>
              <a:t>Feature delivery,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548640" y="3429000"/>
            <a:ext cx="1097280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B8B9BE"/>
                </a:solidFill>
                <a:latin typeface="Inter"/>
              </a:rPr>
              <a:t>with one human gate.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548640" y="461772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97B83"/>
                </a:solidFill>
                <a:latin typeface="Inter"/>
              </a:rPr>
              <a:t>Two components. Same workflow. Any Bosch repo.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548640" y="5440680"/>
            <a:ext cx="2263140" cy="365760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713232" y="5440680"/>
            <a:ext cx="914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Menlo"/>
              </a:rPr>
              <a:t>vertical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508760" y="5440680"/>
            <a:ext cx="12115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DEDEF"/>
                </a:solidFill>
                <a:latin typeface="Inter"/>
              </a:rPr>
              <a:t>claudboard plugin</a:t>
            </a:r>
          </a:p>
        </p:txBody>
      </p:sp>
      <p:sp>
        <p:nvSpPr>
          <p:cNvPr id="302" name="Rounded Rectangle 301"/>
          <p:cNvSpPr/>
          <p:nvPr/>
        </p:nvSpPr>
        <p:spPr>
          <a:xfrm>
            <a:off x="2948940" y="544068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3113532" y="5440680"/>
            <a:ext cx="914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Menlo"/>
              </a:rPr>
              <a:t>horizontal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909060" y="544068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DEDEF"/>
                </a:solidFill>
                <a:latin typeface="Inter"/>
              </a:rPr>
              <a:t>feature-workflow skill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5737860" y="544068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5902452" y="5440680"/>
            <a:ext cx="914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E3B054"/>
                </a:solidFill>
                <a:latin typeface="Menlo"/>
              </a:rPr>
              <a:t>surface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6697980" y="544068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DEDEF"/>
                </a:solidFill>
                <a:latin typeface="Inter"/>
              </a:rPr>
              <a:t>Claude CLI  ·  SDLC UI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48640" y="626364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4F57"/>
                </a:solidFill>
                <a:latin typeface="Menlo"/>
              </a:rPr>
              <a:t>AI SDLC INITIATIVE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7315200" y="635508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claude-repo-scan  +  bosch-sdlc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WHY WE BUILT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A typical feature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Three high-touch phases. Most of it is repetitive context-shuffling.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60320"/>
            <a:ext cx="3611880" cy="21031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A78BF0"/>
                </a:solidFill>
                <a:latin typeface="Menl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88036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Refine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040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97B83"/>
                </a:solidFill>
                <a:latin typeface="Menlo"/>
              </a:rPr>
              <a:t>cycle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11880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49040"/>
            <a:ext cx="30632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Ticket grooming · clarification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back-and-forth with stakeholders.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560320"/>
            <a:ext cx="3611880" cy="21031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0" y="28803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88036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4DD5DA"/>
                </a:solidFill>
                <a:latin typeface="Menlo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88036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Specify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20040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97B83"/>
                </a:solidFill>
                <a:latin typeface="Menlo"/>
              </a:rPr>
              <a:t>cycle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611880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749040"/>
            <a:ext cx="30632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BDD / acceptance criteria · design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architecture · plan decomposition.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2560320"/>
            <a:ext cx="3611880" cy="21031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66760" y="28803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88036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E3B054"/>
                </a:solidFill>
                <a:latin typeface="Menlo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88036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Implement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20040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97B83"/>
                </a:solidFill>
                <a:latin typeface="Menlo"/>
              </a:rPr>
              <a:t>cycle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3611880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749040"/>
            <a:ext cx="30632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Branch · code · test · review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commit · open PR · finalize ticket.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029200"/>
            <a:ext cx="11155680" cy="128016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029200"/>
            <a:ext cx="36576" cy="1280160"/>
          </a:xfrm>
          <a:prstGeom prst="rect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7240" y="534924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349240"/>
            <a:ext cx="6400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4DD5DA"/>
                </a:solidFill>
                <a:latin typeface="Menlo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525780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OUR BET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5532120"/>
            <a:ext cx="96012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EDEDEF"/>
                </a:solidFill>
                <a:latin typeface="Inter"/>
              </a:rPr>
              <a:t>Most of this can run autonomously — if Claude knows the project</a:t>
            </a:r>
          </a:p>
          <a:p>
            <a:pPr algn="l">
              <a:lnSpc>
                <a:spcPct val="130000"/>
              </a:lnSpc>
            </a:pPr>
            <a:r>
              <a:rPr sz="1600" b="1">
                <a:solidFill>
                  <a:srgbClr val="EDEDEF"/>
                </a:solidFill>
                <a:latin typeface="Inter"/>
              </a:rPr>
              <a:t>and follows a deterministic, instrumented workflow.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Two components. One goal.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The plugin makes Claude project-aware. The workflow uses that awareness to 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60320"/>
            <a:ext cx="5486400" cy="3749039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8346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34640"/>
            <a:ext cx="1097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Menlo"/>
              </a:rPr>
              <a:t>VERTICAL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83464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97B83"/>
                </a:solidFill>
                <a:latin typeface="Menlo"/>
              </a:rPr>
              <a:t>project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20440"/>
            <a:ext cx="49377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EDEDEF"/>
                </a:solidFill>
                <a:latin typeface="Inter"/>
              </a:rPr>
              <a:t>claudboard plugin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B8B9BE"/>
                </a:solidFill>
                <a:latin typeface="Inter"/>
              </a:rPr>
              <a:t>Teaches Claude any repo in minutes.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4937760" cy="155447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A78BF0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/analyse    scan stack, patterns, conventions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A78BF0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/generate   CLAUDE.md, rules, scoped skills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A78BF0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/refresh    keep artifacts in sync with code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A78BF0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/techdebt   ticket-ready refactor backlog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560320"/>
            <a:ext cx="5486400" cy="3749039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6520" y="283464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834640"/>
            <a:ext cx="12801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Menlo"/>
              </a:rPr>
              <a:t>HORIZONTAL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83464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97B83"/>
                </a:solidFill>
                <a:latin typeface="Menlo"/>
              </a:rPr>
              <a:t>feature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20440"/>
            <a:ext cx="49377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EDEDEF"/>
                </a:solidFill>
                <a:latin typeface="Inter"/>
              </a:rPr>
              <a:t>feature-workflow skill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B8B9BE"/>
                </a:solidFill>
                <a:latin typeface="Inter"/>
              </a:rPr>
              <a:t>Runs the full feature lifecycle, autonomously.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617720"/>
            <a:ext cx="4937760" cy="155447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4DD5DA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7 phases — ticket → PR → finalize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4DD5DA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10 specialized sub-agents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4DD5DA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1 human gate (spec + plan)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4DD5DA"/>
                </a:solidFill>
                <a:latin typeface="Menlo"/>
              </a:rPr>
              <a:t>—  </a:t>
            </a:r>
            <a:r>
              <a:rPr sz="1300">
                <a:solidFill>
                  <a:srgbClr val="B8B9BE"/>
                </a:solidFill>
                <a:latin typeface="Inter"/>
              </a:rPr>
              <a:t>Runs in Claude CLI or in the Bosch SDLC UI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COMPONENT 1  ·  VERTICAL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claudboard — onboarding any repo.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Four sub-commands. Each one is a full-scope skill, not a stub.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1460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7889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4DD5DA"/>
                </a:solidFill>
                <a:latin typeface="Menlo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3464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Menlo"/>
              </a:rPr>
              <a:t>/analyse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154680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Menlo"/>
              </a:rPr>
              <a:t>command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566160"/>
            <a:ext cx="21488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2148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DEDEF"/>
                </a:solidFill>
                <a:latin typeface="Inter"/>
              </a:rPr>
              <a:t>Read-only deep scan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4800"/>
            <a:ext cx="21488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Detects stack, frameworks,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architecture, conventions,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CI/CD, anti-patterns.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120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1208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4DD5DA"/>
                </a:solidFill>
                <a:latin typeface="Inter"/>
              </a:rPr>
              <a:t>full-scope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51460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11880" y="27889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2788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5BD89A"/>
                </a:solidFill>
                <a:latin typeface="Menlo"/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83464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Menlo"/>
              </a:rPr>
              <a:t>/generate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154680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Menlo"/>
              </a:rPr>
              <a:t>command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3566160"/>
            <a:ext cx="21488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3703320"/>
            <a:ext cx="2148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DEDEF"/>
                </a:solidFill>
                <a:latin typeface="Inter"/>
              </a:rPr>
              <a:t>Author .claude artifacts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114800"/>
            <a:ext cx="21488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CLAUDE.md, rules with paths,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full-scope skills with refs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and scripts.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11880" y="52120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521208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5BD89A"/>
                </a:solidFill>
                <a:latin typeface="Inter"/>
              </a:rPr>
              <a:t>full-scope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251460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46520" y="27889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788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E3B054"/>
                </a:solidFill>
                <a:latin typeface="Menlo"/>
              </a:rPr>
              <a:t>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83464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Menlo"/>
              </a:rPr>
              <a:t>/refresh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154680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Menlo"/>
              </a:rPr>
              <a:t>command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3566160"/>
            <a:ext cx="21488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703320"/>
            <a:ext cx="2148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DEDEF"/>
                </a:solidFill>
                <a:latin typeface="Inter"/>
              </a:rPr>
              <a:t>Delta updates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114800"/>
            <a:ext cx="21488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Re-scans, diffs against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existing artifacts, updates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only what changed.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52120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21208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E3B054"/>
                </a:solidFill>
                <a:latin typeface="Inter"/>
              </a:rPr>
              <a:t>full-scope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251460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81160" y="27889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27889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A78BF0"/>
                </a:solidFill>
                <a:latin typeface="Menlo"/>
              </a:rPr>
              <a:t>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283464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Menlo"/>
              </a:rPr>
              <a:t>/techdebt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3154680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Menlo"/>
              </a:rPr>
              <a:t>command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81160" y="3566160"/>
            <a:ext cx="21488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3703320"/>
            <a:ext cx="2148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DEDEF"/>
                </a:solidFill>
                <a:latin typeface="Inter"/>
              </a:rPr>
              <a:t>Refactor backlog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4114800"/>
            <a:ext cx="21488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Module-grouped, ticket-ready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report with severity, effort,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and fix suggestions.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81160" y="52120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1160" y="521208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A78BF0"/>
                </a:solidFill>
                <a:latin typeface="Inter"/>
              </a:rPr>
              <a:t>full-scope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8978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" y="5897880"/>
            <a:ext cx="36576" cy="457200"/>
          </a:xfrm>
          <a:prstGeom prst="rect">
            <a:avLst/>
          </a:prstGeom>
          <a:solidFill>
            <a:srgbClr val="A7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89788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Workspace mode  ·  one meta-repo holds shared .claude/ for N service repos.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COMPONENT 2  ·  HORIZONTAL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feature-workflow — 7 phases, 1 gate.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Phase 1 produces a spec and a plan. You approve them once. Everything else is autonomous.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260" y="3086100"/>
            <a:ext cx="10287000" cy="6000"/>
          </a:xfrm>
          <a:prstGeom prst="rect">
            <a:avLst/>
          </a:prstGeom>
          <a:solidFill>
            <a:srgbClr val="2E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6" y="2596896"/>
            <a:ext cx="978408" cy="978408"/>
          </a:xfrm>
          <a:prstGeom prst="ellipse">
            <a:avLst/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651760"/>
            <a:ext cx="868680" cy="868680"/>
          </a:xfrm>
          <a:prstGeom prst="ellipse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1208" y="2670048"/>
            <a:ext cx="832104" cy="832104"/>
          </a:xfrm>
          <a:prstGeom prst="ellipse">
            <a:avLst/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16352"/>
            <a:ext cx="868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E3B054"/>
                </a:solidFill>
                <a:latin typeface="Menl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" y="3657600"/>
            <a:ext cx="1600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Ticket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Clarify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Spec ·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4348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434840"/>
            <a:ext cx="1325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E3B054"/>
                </a:solidFill>
                <a:latin typeface="Menlo"/>
              </a:rPr>
              <a:t>gate</a:t>
            </a:r>
          </a:p>
        </p:txBody>
      </p:sp>
      <p:sp>
        <p:nvSpPr>
          <p:cNvPr id="21" name="Oval 20"/>
          <p:cNvSpPr/>
          <p:nvPr/>
        </p:nvSpPr>
        <p:spPr>
          <a:xfrm>
            <a:off x="2162556" y="2596896"/>
            <a:ext cx="978408" cy="978408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17420" y="2651760"/>
            <a:ext cx="868680" cy="868680"/>
          </a:xfrm>
          <a:prstGeom prst="ellipse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35708" y="2670048"/>
            <a:ext cx="832104" cy="832104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17420" y="2816352"/>
            <a:ext cx="868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5BD89A"/>
                </a:solidFill>
                <a:latin typeface="Menlo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51660" y="3657600"/>
            <a:ext cx="1600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Branch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88820" y="44348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88820" y="4434840"/>
            <a:ext cx="1325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5BD89A"/>
                </a:solidFill>
                <a:latin typeface="Menlo"/>
              </a:rPr>
              <a:t>auto</a:t>
            </a:r>
          </a:p>
        </p:txBody>
      </p:sp>
      <p:sp>
        <p:nvSpPr>
          <p:cNvPr id="28" name="Oval 27"/>
          <p:cNvSpPr/>
          <p:nvPr/>
        </p:nvSpPr>
        <p:spPr>
          <a:xfrm>
            <a:off x="3877056" y="2596896"/>
            <a:ext cx="978408" cy="978408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31920" y="2651760"/>
            <a:ext cx="868680" cy="868680"/>
          </a:xfrm>
          <a:prstGeom prst="ellipse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50208" y="2670048"/>
            <a:ext cx="832104" cy="832104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0" y="2816352"/>
            <a:ext cx="868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5BD89A"/>
                </a:solidFill>
                <a:latin typeface="Menl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657600"/>
            <a:ext cx="1600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Develop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&amp; 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44348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4434840"/>
            <a:ext cx="1325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5BD89A"/>
                </a:solidFill>
                <a:latin typeface="Menlo"/>
              </a:rPr>
              <a:t>auto</a:t>
            </a:r>
          </a:p>
        </p:txBody>
      </p:sp>
      <p:sp>
        <p:nvSpPr>
          <p:cNvPr id="35" name="Oval 34"/>
          <p:cNvSpPr/>
          <p:nvPr/>
        </p:nvSpPr>
        <p:spPr>
          <a:xfrm>
            <a:off x="5591556" y="2596896"/>
            <a:ext cx="978408" cy="978408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46420" y="2651760"/>
            <a:ext cx="868680" cy="868680"/>
          </a:xfrm>
          <a:prstGeom prst="ellipse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64708" y="2670048"/>
            <a:ext cx="832104" cy="832104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46420" y="2816352"/>
            <a:ext cx="868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5BD89A"/>
                </a:solidFill>
                <a:latin typeface="Menlo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0660" y="3657600"/>
            <a:ext cx="1600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Commit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17820" y="44348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17820" y="4434840"/>
            <a:ext cx="1325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5BD89A"/>
                </a:solidFill>
                <a:latin typeface="Menlo"/>
              </a:rPr>
              <a:t>auto</a:t>
            </a:r>
          </a:p>
        </p:txBody>
      </p:sp>
      <p:sp>
        <p:nvSpPr>
          <p:cNvPr id="42" name="Oval 41"/>
          <p:cNvSpPr/>
          <p:nvPr/>
        </p:nvSpPr>
        <p:spPr>
          <a:xfrm>
            <a:off x="7306056" y="2596896"/>
            <a:ext cx="978408" cy="978408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360920" y="2651760"/>
            <a:ext cx="868680" cy="868680"/>
          </a:xfrm>
          <a:prstGeom prst="ellipse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79208" y="2670048"/>
            <a:ext cx="832104" cy="832104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20" y="2816352"/>
            <a:ext cx="868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5BD89A"/>
                </a:solidFill>
                <a:latin typeface="Menlo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3657600"/>
            <a:ext cx="1600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Review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0" y="44348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0" y="4434840"/>
            <a:ext cx="1325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5BD89A"/>
                </a:solidFill>
                <a:latin typeface="Menlo"/>
              </a:rPr>
              <a:t>auto</a:t>
            </a:r>
          </a:p>
        </p:txBody>
      </p:sp>
      <p:sp>
        <p:nvSpPr>
          <p:cNvPr id="49" name="Oval 48"/>
          <p:cNvSpPr/>
          <p:nvPr/>
        </p:nvSpPr>
        <p:spPr>
          <a:xfrm>
            <a:off x="9020556" y="2596896"/>
            <a:ext cx="978408" cy="978408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075420" y="2651760"/>
            <a:ext cx="868680" cy="868680"/>
          </a:xfrm>
          <a:prstGeom prst="ellipse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93708" y="2670048"/>
            <a:ext cx="832104" cy="832104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75420" y="2816352"/>
            <a:ext cx="868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5BD89A"/>
                </a:solidFill>
                <a:latin typeface="Menlo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09660" y="3657600"/>
            <a:ext cx="1600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Pull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Request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46820" y="44348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46820" y="4434840"/>
            <a:ext cx="1325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5BD89A"/>
                </a:solidFill>
                <a:latin typeface="Menlo"/>
              </a:rPr>
              <a:t>auto</a:t>
            </a:r>
          </a:p>
        </p:txBody>
      </p:sp>
      <p:sp>
        <p:nvSpPr>
          <p:cNvPr id="56" name="Oval 55"/>
          <p:cNvSpPr/>
          <p:nvPr/>
        </p:nvSpPr>
        <p:spPr>
          <a:xfrm>
            <a:off x="10735056" y="2596896"/>
            <a:ext cx="978408" cy="978408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789920" y="2651760"/>
            <a:ext cx="868680" cy="868680"/>
          </a:xfrm>
          <a:prstGeom prst="ellipse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808208" y="2670048"/>
            <a:ext cx="832104" cy="832104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89920" y="2816352"/>
            <a:ext cx="868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5BD89A"/>
                </a:solidFill>
                <a:latin typeface="Menlo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3657600"/>
            <a:ext cx="1600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Finalize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561320" y="44348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61320" y="4434840"/>
            <a:ext cx="1325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5BD89A"/>
                </a:solidFill>
                <a:latin typeface="Menlo"/>
              </a:rPr>
              <a:t>auto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" y="2103120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E3B054"/>
                </a:solidFill>
                <a:latin typeface="Menlo"/>
              </a:rPr>
              <a:t>▲  HUMAN GATE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512064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97B83"/>
                </a:solidFill>
                <a:latin typeface="Menlo"/>
              </a:rPr>
              <a:t>10 SPECIALIZED SUB-AGENTS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539496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Each one gets only the tools it needs and a self-contained prompt.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2920" y="59893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94360" y="6117336"/>
            <a:ext cx="73152" cy="73152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4088" y="5989320"/>
            <a:ext cx="868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sdd-expert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691640" y="5989320"/>
            <a:ext cx="1028700" cy="329184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783080" y="6117336"/>
            <a:ext cx="73152" cy="73152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92808" y="5989320"/>
            <a:ext cx="8001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architect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811780" y="59893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903220" y="6117336"/>
            <a:ext cx="73152" cy="73152"/>
          </a:xfrm>
          <a:prstGeom prst="ellipse">
            <a:avLst/>
          </a:prstGeom>
          <a:solidFill>
            <a:srgbClr val="A7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12948" y="5989320"/>
            <a:ext cx="868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Inter"/>
              </a:rPr>
              <a:t>jira-agent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000500" y="59893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091940" y="6117336"/>
            <a:ext cx="73152" cy="73152"/>
          </a:xfrm>
          <a:prstGeom prst="ellipse">
            <a:avLst/>
          </a:prstGeom>
          <a:solidFill>
            <a:srgbClr val="A7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01668" y="5989320"/>
            <a:ext cx="7315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Inter"/>
              </a:rPr>
              <a:t>tr-agent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52060" y="5989320"/>
            <a:ext cx="1234439" cy="329184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143500" y="6117336"/>
            <a:ext cx="73152" cy="73152"/>
          </a:xfrm>
          <a:prstGeom prst="ellipse">
            <a:avLst/>
          </a:prstGeom>
          <a:solidFill>
            <a:srgbClr val="A7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53228" y="5989320"/>
            <a:ext cx="10058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Inter"/>
              </a:rPr>
              <a:t>pr-agent-ado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77939" y="5989320"/>
            <a:ext cx="1440180" cy="329184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469379" y="6117336"/>
            <a:ext cx="73152" cy="73152"/>
          </a:xfrm>
          <a:prstGeom prst="ellipse">
            <a:avLst/>
          </a:prstGeom>
          <a:solidFill>
            <a:srgbClr val="A7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79107" y="5989320"/>
            <a:ext cx="12115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Inter"/>
              </a:rPr>
              <a:t>pr-agent-github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909559" y="5989320"/>
            <a:ext cx="1028700" cy="329184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000999" y="6117336"/>
            <a:ext cx="73152" cy="73152"/>
          </a:xfrm>
          <a:prstGeom prst="ellipse">
            <a:avLst/>
          </a:prstGeom>
          <a:solidFill>
            <a:srgbClr val="5BD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10727" y="5989320"/>
            <a:ext cx="8001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5BD89A"/>
                </a:solidFill>
                <a:latin typeface="Inter"/>
              </a:rPr>
              <a:t>git-agent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029699" y="5989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21139" y="6117336"/>
            <a:ext cx="73152" cy="73152"/>
          </a:xfrm>
          <a:prstGeom prst="ellipse">
            <a:avLst/>
          </a:prstGeom>
          <a:solidFill>
            <a:srgbClr val="5BD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30867" y="5989320"/>
            <a:ext cx="1143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5BD89A"/>
                </a:solidFill>
                <a:latin typeface="Inter"/>
              </a:rPr>
              <a:t>implementation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492739" y="5989320"/>
            <a:ext cx="1303020" cy="329184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584179" y="6117336"/>
            <a:ext cx="73152" cy="73152"/>
          </a:xfrm>
          <a:prstGeom prst="ellipse">
            <a:avLst/>
          </a:prstGeom>
          <a:solidFill>
            <a:srgbClr val="E3B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693907" y="5989320"/>
            <a:ext cx="10744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E3B054"/>
                </a:solidFill>
                <a:latin typeface="Inter"/>
              </a:rPr>
              <a:t>spec-reviewer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1887199" y="5989320"/>
            <a:ext cx="1440180" cy="329184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978639" y="6117336"/>
            <a:ext cx="73152" cy="73152"/>
          </a:xfrm>
          <a:prstGeom prst="ellipse">
            <a:avLst/>
          </a:prstGeom>
          <a:solidFill>
            <a:srgbClr val="E3B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088367" y="5989320"/>
            <a:ext cx="12115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E3B054"/>
                </a:solidFill>
                <a:latin typeface="Inter"/>
              </a:rPr>
              <a:t>design-reviewer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WORKFLOW  ·  TICKET, CLARIFY, SPEC,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Refine the idea — once, deeply.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Ticket created or fetched. The user picks a clarification level. A BDD spec and an execution plan are produced and approved together.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097280"/>
            <a:ext cx="1874519" cy="320040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21240" y="1216152"/>
            <a:ext cx="91440" cy="91440"/>
          </a:xfrm>
          <a:prstGeom prst="ellipse">
            <a:avLst/>
          </a:prstGeom>
          <a:solidFill>
            <a:srgbClr val="E3B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109728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E3B054"/>
                </a:solidFill>
                <a:latin typeface="Menlo"/>
              </a:rPr>
              <a:t>phase 1  · 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E3B054"/>
                </a:solidFill>
                <a:latin typeface="Menlo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852928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Sub-phases  1-pre  →  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1-pre · jira-agent / tr-agent — create or fetch ticket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1-syn · Stated synthesis — print what we heard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1a · Clarify scope — autopilot / balanced / guided / manual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1b · sdd-expert-agent — Gherkin actor·action·outcome spec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1c · architect-agent — execution plan with checkpoints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1d · HUMAN GATE — review spec + plan, approve or return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3464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797B83"/>
                </a:solidFill>
                <a:latin typeface="Menlo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852928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Why this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One gate, not five — context isn't lost between phases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Spec + plan committed with the feature, not throwaway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Clarification autonomy lever — skip or get full rubric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On rejection, sub-agents re-spin with user's change notes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Workflow start timestamp recorded for time + cost analytics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6355080"/>
            <a:ext cx="11155680" cy="320040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" y="6473952"/>
            <a:ext cx="91440" cy="91440"/>
          </a:xfrm>
          <a:prstGeom prst="ellipse">
            <a:avLst/>
          </a:prstGeom>
          <a:solidFill>
            <a:srgbClr val="E3B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E3B054"/>
                </a:solidFill>
                <a:latin typeface="Menlo"/>
              </a:rPr>
              <a:t>▲  THIS IS THE ONLY HUMAN GATE IN THE ENTIRE WORKFLOW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WORKFLOW  ·  BRANCH AND DEVELOP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Branch out, then implement checkpoint by checkpoint.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Once the plan is approved, the workflow opens a branch and walks the checkpoint list. Baseline verification runs in parallel with checkpoint 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097280"/>
            <a:ext cx="1874519" cy="320040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21240" y="1216152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109728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Menlo"/>
              </a:rPr>
              <a:t>phase 2 · 3  ·  auto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4DD5DA"/>
                </a:solidFill>
                <a:latin typeface="Menlo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852928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Phase 2  · 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git-agent creates a clean branch from main / master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Naming follows project convention — feature/&lt;ticket&gt;/&lt;slug&gt;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Main branch auto-detected — no per-repo config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3464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797B83"/>
                </a:solidFill>
                <a:latin typeface="Menlo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852928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Phase 3  ·  Develop &amp;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implementation-agent runs build → test → lint → live loops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Baseline + checkpoint 1 launched IN PARALLEL (background)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If baseline fails — workflow stops immediately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Recoverable failures stay in the loop, ticket untouched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Workspace mode: one branch name across N affected repos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WORKFLOW  ·  COMMIT AND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Clean history, then two independent reviewers.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git-agent squashes checkpoint commits into one meaningful commit. Two reviewer agents check spec coverage and code quality independently.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097280"/>
            <a:ext cx="1874519" cy="320040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21240" y="1216152"/>
            <a:ext cx="91440" cy="91440"/>
          </a:xfrm>
          <a:prstGeom prst="ellipse">
            <a:avLst/>
          </a:prstGeom>
          <a:solidFill>
            <a:srgbClr val="A7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109728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Menlo"/>
              </a:rPr>
              <a:t>phase 4 · 5  ·  auto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A78BF0"/>
                </a:solidFill>
                <a:latin typeface="Menlo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852928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Phase 4  · 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A78BF0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git-agent  stage → squash → commit with structured message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A78BF0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Commit message ties back to ticket and approved spec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A78BF0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Pre-commit hooks honoured — never bypassed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3464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797B83"/>
                </a:solidFill>
                <a:latin typeface="Menlo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852928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Phase 5  · 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spec-reviewer — does the code satisfy every BDD scenario?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design-reviewer — code quality vs repo rules + conventions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On findings — implementation-agent applies fixes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git-agent amends — reviewer re-runs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Loop until both reviewers pass — no human in the loop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WORKFLOW  ·  PR AND FINALIZE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Open the PR, log the work, transition the ticket.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Code is pushed and a pull request is opened. The ticket is updated with the worklog, the AI cost analysis, and a success transition.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097280"/>
            <a:ext cx="1874519" cy="320040"/>
          </a:xfrm>
          <a:prstGeom prst="roundRect">
            <a:avLst>
              <a:gd name="adj" fmla="val 50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21240" y="1216152"/>
            <a:ext cx="91440" cy="91440"/>
          </a:xfrm>
          <a:prstGeom prst="ellipse">
            <a:avLst/>
          </a:prstGeom>
          <a:solidFill>
            <a:srgbClr val="5BD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109728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5BD89A"/>
                </a:solidFill>
                <a:latin typeface="Menlo"/>
              </a:rPr>
              <a:t>phase 6 · 7  ·  auto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5BD89A"/>
                </a:solidFill>
                <a:latin typeface="Menlo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852928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Phase 6  ·  Pull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5BD89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git-agent validates PR readiness, syncs and pushes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5BD89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pr-agent-ado / pr-agent-github creates the PR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5BD89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GitHub — 'Closes #N' linking + Actions run verification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5BD89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Workspace mode — PRs in parallel, merge order printed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5603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3337560"/>
            <a:ext cx="49377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283464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3464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797B83"/>
                </a:solidFill>
                <a:latin typeface="Menlo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852928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Phase 7  ·  Finalize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520440"/>
            <a:ext cx="4937760" cy="2651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jira / tr-agent logs refinement + implementation time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Comment with cost analysis — tokens and USD per phase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Ticket transitions to its success state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On failure — optional failure_transition fires automatically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797B83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Full transcript persisted as JSONL — forensic record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HOW YOU RUN IT  ·  OPTION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Claude Code CLI — the developer path.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Inside any onboarded repo, open Claude Code and start the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7315200" cy="3749039"/>
          </a:xfrm>
          <a:prstGeom prst="roundRect">
            <a:avLst>
              <a:gd name="adj" fmla="val 4000"/>
            </a:avLst>
          </a:prstGeom>
          <a:solidFill>
            <a:srgbClr val="0E0F11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06040"/>
            <a:ext cx="7315200" cy="292608"/>
          </a:xfrm>
          <a:prstGeom prst="rect">
            <a:avLst/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606040"/>
            <a:ext cx="7315200" cy="292608"/>
          </a:xfrm>
          <a:prstGeom prst="roundRect">
            <a:avLst>
              <a:gd name="adj" fmla="val 6000"/>
            </a:avLst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752344"/>
            <a:ext cx="7315200" cy="146304"/>
          </a:xfrm>
          <a:prstGeom prst="rect">
            <a:avLst/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936" y="2688336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2688336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6424" y="2688336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42616"/>
            <a:ext cx="731520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97B83"/>
                </a:solidFill>
                <a:latin typeface="Menlo"/>
              </a:rPr>
              <a:t>claude  ·  ~/repos/platform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98648"/>
            <a:ext cx="731520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63240"/>
            <a:ext cx="676656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EDEDEF"/>
                </a:solidFill>
                <a:latin typeface="Menlo"/>
              </a:rPr>
              <a:t>$ claude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4DD5DA"/>
                </a:solidFill>
                <a:latin typeface="Menlo"/>
              </a:rPr>
              <a:t>&gt; /start-feature Add export-as-CSV to user list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EDEDEF"/>
                </a:solidFill>
                <a:latin typeface="Menlo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E3B054"/>
                </a:solidFill>
                <a:latin typeface="Menlo"/>
              </a:rPr>
              <a:t>clarification autonomy: balanced — accept [enter] or override?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4DD5DA"/>
                </a:solidFill>
                <a:latin typeface="Menlo"/>
              </a:rPr>
              <a:t>&gt; [enter]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EDEDEF"/>
                </a:solidFill>
                <a:latin typeface="Menlo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BD89A"/>
                </a:solidFill>
                <a:latin typeface="Menlo"/>
              </a:rPr>
              <a:t>phase 1-pre  ✓  ticket PLAT-42117 created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BD89A"/>
                </a:solidFill>
                <a:latin typeface="Menlo"/>
              </a:rPr>
              <a:t>phase 1-syn  ✓  synthesis printed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BD89A"/>
                </a:solidFill>
                <a:latin typeface="Menlo"/>
              </a:rPr>
              <a:t>phase 1a     ✓  4 dimensions clarified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BD89A"/>
                </a:solidFill>
                <a:latin typeface="Menlo"/>
              </a:rPr>
              <a:t>phase 1b     ✓  business-behavior-spec.md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BD89A"/>
                </a:solidFill>
                <a:latin typeface="Menlo"/>
              </a:rPr>
              <a:t>phase 1c     ✓  execution-plan.md  (5 checkpoints)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E3B054"/>
                </a:solidFill>
                <a:latin typeface="Menlo"/>
              </a:rPr>
              <a:t>phase 1d     ▲  awaiting your approval (spec + plan)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2606040"/>
            <a:ext cx="3566160" cy="3749039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66760" y="3383280"/>
            <a:ext cx="301752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66760" y="288036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88036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4DD5DA"/>
                </a:solidFill>
                <a:latin typeface="Menlo"/>
              </a:rPr>
              <a:t>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898648"/>
            <a:ext cx="2651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for developers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566160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97B83"/>
                </a:solidFill>
                <a:latin typeface="Menlo"/>
              </a:rPr>
              <a:t>Where it shines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977640"/>
            <a:ext cx="3017520" cy="219455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Zero setup beyond Claude Code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Full terminal feedback, fast iteration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Best for the person who wrote the ticket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Same workflow, same skill files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4DD5DA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Great for spikes and quick 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HOW YOU RUN IT  ·  OPTION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Bosch SDLC UI — the dashboard path.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Same workflow, driven by a local web app. One command — npx bosch-sdlc.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7315200" cy="3749039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606040"/>
            <a:ext cx="7315200" cy="292608"/>
          </a:xfrm>
          <a:prstGeom prst="roundRect">
            <a:avLst>
              <a:gd name="adj" fmla="val 6000"/>
            </a:avLst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52344"/>
            <a:ext cx="7315200" cy="146304"/>
          </a:xfrm>
          <a:prstGeom prst="rect">
            <a:avLst/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936" y="2688336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688336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6424" y="2688336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42616"/>
            <a:ext cx="731520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97B83"/>
                </a:solidFill>
                <a:latin typeface="Menlo"/>
              </a:rPr>
              <a:t>claudboard  ·  localhost:3001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898648"/>
            <a:ext cx="731520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898648"/>
            <a:ext cx="1463040" cy="3456431"/>
          </a:xfrm>
          <a:prstGeom prst="rect">
            <a:avLst/>
          </a:prstGeom>
          <a:solidFill>
            <a:srgbClr val="0E0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65960" y="2898648"/>
            <a:ext cx="6000" cy="3456431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03580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35808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026664"/>
            <a:ext cx="914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355848"/>
            <a:ext cx="128016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447288"/>
            <a:ext cx="12801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>
                <a:solidFill>
                  <a:srgbClr val="4D4F57"/>
                </a:solidFill>
                <a:latin typeface="Inter"/>
              </a:rPr>
              <a:t>WORKSPACE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3675888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8B9BE"/>
                </a:solidFill>
                <a:latin typeface="Inter"/>
              </a:rP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968496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8B9BE"/>
                </a:solidFill>
                <a:latin typeface="Inter"/>
              </a:rPr>
              <a:t>Projects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4261104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8B9BE"/>
                </a:solidFill>
                <a:latin typeface="Inter"/>
              </a:rPr>
              <a:t>Kickoff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553712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8B9BE"/>
                </a:solidFill>
                <a:latin typeface="Inter"/>
              </a:rPr>
              <a:t>Active run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846320"/>
            <a:ext cx="1280160" cy="256032"/>
          </a:xfrm>
          <a:prstGeom prst="roundRect">
            <a:avLst>
              <a:gd name="adj" fmla="val 15000"/>
            </a:avLst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" y="4846320"/>
            <a:ext cx="8000" cy="256032"/>
          </a:xfrm>
          <a:prstGeom prst="rect">
            <a:avLst/>
          </a:prstGeom>
          <a:solidFill>
            <a:srgbClr val="E3B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846320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EDEDEF"/>
                </a:solidFill>
                <a:latin typeface="Inter"/>
              </a:rPr>
              <a:t>Review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5138928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8B9BE"/>
                </a:solidFill>
                <a:latin typeface="Inter"/>
              </a:rPr>
              <a:t>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3081528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97B83"/>
                </a:solidFill>
                <a:latin typeface="Menlo"/>
              </a:rPr>
              <a:t>Projects  ›  platform  ›  PLAT-42117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3355848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Add export-as-CSV to user list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48840" y="3739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86000" y="3822192"/>
            <a:ext cx="91440" cy="91440"/>
          </a:xfrm>
          <a:prstGeom prst="ellipse">
            <a:avLst/>
          </a:prstGeom>
          <a:solidFill>
            <a:srgbClr val="E3B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23160" y="3739896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E3B054"/>
                </a:solidFill>
                <a:latin typeface="Menlo"/>
              </a:rPr>
              <a:t>paused-gate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40864" y="4370832"/>
            <a:ext cx="5102352" cy="6000"/>
          </a:xfrm>
          <a:prstGeom prst="rect">
            <a:avLst/>
          </a:prstGeom>
          <a:solidFill>
            <a:srgbClr val="2E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148840" y="4178808"/>
            <a:ext cx="384048" cy="384048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48840" y="4178808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5BD89A"/>
                </a:solidFill>
                <a:latin typeface="Menlo"/>
              </a:rPr>
              <a:t>1</a:t>
            </a:r>
          </a:p>
        </p:txBody>
      </p:sp>
      <p:sp>
        <p:nvSpPr>
          <p:cNvPr id="44" name="Oval 43"/>
          <p:cNvSpPr/>
          <p:nvPr/>
        </p:nvSpPr>
        <p:spPr>
          <a:xfrm>
            <a:off x="2999232" y="4178808"/>
            <a:ext cx="384048" cy="384048"/>
          </a:xfrm>
          <a:prstGeom prst="ellipse">
            <a:avLst/>
          </a:prstGeom>
          <a:solidFill>
            <a:srgbClr val="13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9232" y="4178808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5BD89A"/>
                </a:solidFill>
                <a:latin typeface="Menlo"/>
              </a:rPr>
              <a:t>2</a:t>
            </a:r>
          </a:p>
        </p:txBody>
      </p:sp>
      <p:sp>
        <p:nvSpPr>
          <p:cNvPr id="46" name="Oval 45"/>
          <p:cNvSpPr/>
          <p:nvPr/>
        </p:nvSpPr>
        <p:spPr>
          <a:xfrm>
            <a:off x="3849624" y="4178808"/>
            <a:ext cx="384048" cy="384048"/>
          </a:xfrm>
          <a:prstGeom prst="ellipse">
            <a:avLst/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9624" y="4178808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E3B054"/>
                </a:solidFill>
                <a:latin typeface="Menlo"/>
              </a:rPr>
              <a:t>3</a:t>
            </a:r>
          </a:p>
        </p:txBody>
      </p:sp>
      <p:sp>
        <p:nvSpPr>
          <p:cNvPr id="48" name="Oval 47"/>
          <p:cNvSpPr/>
          <p:nvPr/>
        </p:nvSpPr>
        <p:spPr>
          <a:xfrm>
            <a:off x="4700016" y="4178808"/>
            <a:ext cx="384048" cy="384048"/>
          </a:xfrm>
          <a:prstGeom prst="ellipse">
            <a:avLst/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0016" y="4178808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797B83"/>
                </a:solidFill>
                <a:latin typeface="Menlo"/>
              </a:rPr>
              <a:t>4</a:t>
            </a:r>
          </a:p>
        </p:txBody>
      </p:sp>
      <p:sp>
        <p:nvSpPr>
          <p:cNvPr id="50" name="Oval 49"/>
          <p:cNvSpPr/>
          <p:nvPr/>
        </p:nvSpPr>
        <p:spPr>
          <a:xfrm>
            <a:off x="5550408" y="4178808"/>
            <a:ext cx="384048" cy="384048"/>
          </a:xfrm>
          <a:prstGeom prst="ellipse">
            <a:avLst/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50408" y="4178808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797B83"/>
                </a:solidFill>
                <a:latin typeface="Menlo"/>
              </a:rPr>
              <a:t>5</a:t>
            </a:r>
          </a:p>
        </p:txBody>
      </p:sp>
      <p:sp>
        <p:nvSpPr>
          <p:cNvPr id="52" name="Oval 51"/>
          <p:cNvSpPr/>
          <p:nvPr/>
        </p:nvSpPr>
        <p:spPr>
          <a:xfrm>
            <a:off x="6400800" y="4178808"/>
            <a:ext cx="384048" cy="384048"/>
          </a:xfrm>
          <a:prstGeom prst="ellipse">
            <a:avLst/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178808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797B83"/>
                </a:solidFill>
                <a:latin typeface="Menlo"/>
              </a:rPr>
              <a:t>6</a:t>
            </a:r>
          </a:p>
        </p:txBody>
      </p:sp>
      <p:sp>
        <p:nvSpPr>
          <p:cNvPr id="54" name="Oval 53"/>
          <p:cNvSpPr/>
          <p:nvPr/>
        </p:nvSpPr>
        <p:spPr>
          <a:xfrm>
            <a:off x="7251192" y="4178808"/>
            <a:ext cx="384048" cy="384048"/>
          </a:xfrm>
          <a:prstGeom prst="ellipse">
            <a:avLst/>
          </a:prstGeom>
          <a:solidFill>
            <a:srgbClr val="18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51192" y="4178808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797B83"/>
                </a:solidFill>
                <a:latin typeface="Menlo"/>
              </a:rPr>
              <a:t>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148840" y="4910328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148840" y="4910328"/>
            <a:ext cx="5486400" cy="365760"/>
          </a:xfrm>
          <a:prstGeom prst="roundRect">
            <a:avLst>
              <a:gd name="adj" fmla="val 4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48840" y="5093208"/>
            <a:ext cx="5486400" cy="182880"/>
          </a:xfrm>
          <a:prstGeom prst="rect">
            <a:avLst/>
          </a:prstGeom>
          <a:solidFill>
            <a:srgbClr val="1A1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286000" y="5020056"/>
            <a:ext cx="164592" cy="164592"/>
          </a:xfrm>
          <a:prstGeom prst="ellipse">
            <a:avLst/>
          </a:prstGeom>
          <a:solidFill>
            <a:srgbClr val="E3B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14600" y="4956048"/>
            <a:ext cx="5029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DEDEF"/>
                </a:solidFill>
                <a:latin typeface="Inter"/>
              </a:rPr>
              <a:t>Review gate  ·  spec + plan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5367528"/>
            <a:ext cx="5212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8B9BE"/>
                </a:solidFill>
                <a:latin typeface="Menlo"/>
              </a:rPr>
              <a:t>specs/001-PLAT-42117-export-csv/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31720" y="573328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181A1F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31720" y="5733288"/>
            <a:ext cx="15544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B8B9BE"/>
                </a:solidFill>
                <a:latin typeface="Menlo"/>
              </a:rPr>
              <a:t>business-behavior-spec.md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977640" y="573328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181A1F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77640" y="5733288"/>
            <a:ext cx="15544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B8B9BE"/>
                </a:solidFill>
                <a:latin typeface="Menlo"/>
              </a:rPr>
              <a:t>authorization-spec.md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23560" y="573328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181A1F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23560" y="5733288"/>
            <a:ext cx="15544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B8B9BE"/>
                </a:solidFill>
                <a:latin typeface="Menlo"/>
              </a:rPr>
              <a:t>execution-plan.md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331720" y="6281928"/>
            <a:ext cx="914400" cy="292608"/>
          </a:xfrm>
          <a:prstGeom prst="roundRect">
            <a:avLst>
              <a:gd name="adj" fmla="val 18000"/>
            </a:avLst>
          </a:prstGeom>
          <a:solidFill>
            <a:srgbClr val="E3B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31720" y="6281928"/>
            <a:ext cx="9144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1A1300"/>
                </a:solidFill>
                <a:latin typeface="Inter"/>
              </a:rPr>
              <a:t>Approve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337560" y="6281928"/>
            <a:ext cx="1280160" cy="292608"/>
          </a:xfrm>
          <a:prstGeom prst="roundRect">
            <a:avLst>
              <a:gd name="adj" fmla="val 18000"/>
            </a:avLst>
          </a:prstGeom>
          <a:solidFill>
            <a:srgbClr val="131418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37560" y="6281928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EDEDEF"/>
                </a:solidFill>
                <a:latin typeface="Inter"/>
              </a:rPr>
              <a:t>Request changes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92440" y="2606040"/>
            <a:ext cx="3566160" cy="3749039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366760" y="3383280"/>
            <a:ext cx="301752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366760" y="288036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66760" y="288036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E3B054"/>
                </a:solidFill>
                <a:latin typeface="Menlo"/>
              </a:rPr>
              <a:t>◇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69680" y="2898648"/>
            <a:ext cx="2651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DEDEF"/>
                </a:solidFill>
                <a:latin typeface="Inter"/>
              </a:rPr>
              <a:t>for teams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66760" y="3566160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97B83"/>
                </a:solidFill>
                <a:latin typeface="Menlo"/>
              </a:rPr>
              <a:t>Where it shines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66760" y="3977640"/>
            <a:ext cx="3017520" cy="219455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Non-engineers can monitor + gate runs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Live phase / checkpoint / agent events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Pipeline, Stream, Telemetry panes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Reuses your Claude Code MCP config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50" b="0">
                <a:solidFill>
                  <a:srgbClr val="E3B054"/>
                </a:solidFill>
                <a:latin typeface="Menlo"/>
              </a:rPr>
              <a:t>—  </a:t>
            </a:r>
            <a:r>
              <a:rPr sz="1250">
                <a:solidFill>
                  <a:srgbClr val="B8B9BE"/>
                </a:solidFill>
                <a:latin typeface="Inter"/>
              </a:rPr>
              <a:t>Per-run JSONL transcripts on disk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9260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02336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3891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29768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4D4F57"/>
                </a:solidFill>
                <a:latin typeface="Menlo"/>
              </a:rPr>
              <a:t>~/claude-repo-scan  · 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Inter"/>
              </a:rPr>
              <a:t>BUILT FOR REUSE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DEDEF"/>
                </a:solidFill>
                <a:latin typeface="Inter"/>
              </a:rPr>
              <a:t>One toolchain — every Bosch project.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B83"/>
                </a:solidFill>
                <a:latin typeface="Inter"/>
              </a:rPr>
              <a:t>The plugin generates the right artifacts for whichever topology you have.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3611880" cy="329184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6968" y="2971800"/>
            <a:ext cx="109728" cy="109728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1097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DD5DA"/>
                </a:solidFill>
                <a:latin typeface="Menlo"/>
              </a:rPr>
              <a:t>monolith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83280"/>
            <a:ext cx="3063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Single repo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931920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306324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Plugin generates .claude/ in the repo.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Workflow lives at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.claude/skills/feature-workflow/.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1 ticket → 1 branch → 1 PR.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606040"/>
            <a:ext cx="3611880" cy="329184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0" y="28803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81728" y="2971800"/>
            <a:ext cx="109728" cy="109728"/>
          </a:xfrm>
          <a:prstGeom prst="ellipse">
            <a:avLst/>
          </a:prstGeom>
          <a:solidFill>
            <a:srgbClr val="A7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880360"/>
            <a:ext cx="1097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A78BF0"/>
                </a:solidFill>
                <a:latin typeface="Menlo"/>
              </a:rPr>
              <a:t>monorepo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383280"/>
            <a:ext cx="3063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One repo, many modules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931920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069080"/>
            <a:ext cx="306324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Same install as a single repo.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No scope picker — agents pick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affected modules from the prompt.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1 ticket → 1 branch → 1 PR.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2606040"/>
            <a:ext cx="3611880" cy="329184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66760" y="28803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76488" y="2971800"/>
            <a:ext cx="109728" cy="109728"/>
          </a:xfrm>
          <a:prstGeom prst="ellipse">
            <a:avLst/>
          </a:prstGeom>
          <a:solidFill>
            <a:srgbClr val="E3B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2880360"/>
            <a:ext cx="1097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E3B054"/>
                </a:solidFill>
                <a:latin typeface="Menlo"/>
              </a:rPr>
              <a:t>workspace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383280"/>
            <a:ext cx="3063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N independent repos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3931920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069080"/>
            <a:ext cx="306324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Workspace meta-repo holds the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shared .claude/.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1 ticket → N branches → N PRs.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Merge order printed at the end.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603504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6035040"/>
            <a:ext cx="36576" cy="411480"/>
          </a:xfrm>
          <a:prstGeom prst="rect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603504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8B9BE"/>
                </a:solidFill>
                <a:latin typeface="Menlo"/>
              </a:rPr>
              <a:t>same install  ·  same workflow  ·  same UI  ·  same telemetry  ·  for any repo onboarded with claudboard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4652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2920" y="6537960"/>
            <a:ext cx="91440" cy="91440"/>
          </a:xfrm>
          <a:prstGeom prst="ellipse">
            <a:avLst/>
          </a:prstGeom>
          <a:solidFill>
            <a:srgbClr val="4D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51967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97B83"/>
                </a:solidFill>
                <a:latin typeface="Inter"/>
              </a:rPr>
              <a:t>claude-repo-scan  ·  bosch-sdlc  ·  team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D4F57"/>
                </a:solidFill>
                <a:latin typeface="Menlo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D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29260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8090A"/>
                </a:solidFill>
                <a:latin typeface="Menlo"/>
              </a:rP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56692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DEDEF"/>
                </a:solidFill>
                <a:latin typeface="Inter"/>
              </a:rPr>
              <a:t>claudboard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603504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6350">
            <a:solidFill>
              <a:srgbClr val="2E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94360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797B83"/>
                </a:solidFill>
                <a:latin typeface="Menlo"/>
              </a:rPr>
              <a:t>V3.8.1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9436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797B83"/>
                </a:solidFill>
                <a:latin typeface="Menlo"/>
              </a:rPr>
              <a:t>END  ·  Q &amp; 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5156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DD5DA"/>
                </a:solidFill>
                <a:latin typeface="Menlo"/>
              </a:rPr>
              <a:t>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EDEDEF"/>
                </a:solidFill>
                <a:latin typeface="Inter"/>
              </a:rPr>
              <a:t>Two components.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09728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B8B9BE"/>
                </a:solidFill>
                <a:latin typeface="Inter"/>
              </a:rPr>
              <a:t>One gate. Any repo.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3611880" cy="201168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023359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23359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A78BF0"/>
                </a:solidFill>
                <a:latin typeface="Menlo"/>
              </a:rPr>
              <a:t>plugin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023359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D4F57"/>
                </a:solidFill>
                <a:latin typeface="Menlo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480559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17719"/>
            <a:ext cx="3063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Plugin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19"/>
            <a:ext cx="3063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claudboard onboards any repo: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analyse · generate · refresh · techdebt.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749039"/>
            <a:ext cx="3611880" cy="201168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17720" y="4023359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023359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4DD5DA"/>
                </a:solidFill>
                <a:latin typeface="Menlo"/>
              </a:rPr>
              <a:t>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023359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D4F57"/>
                </a:solidFill>
                <a:latin typeface="Menlo"/>
              </a:rPr>
              <a:t>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4480559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617719"/>
            <a:ext cx="3063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074919"/>
            <a:ext cx="3063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feature-workflow runs the lifecycle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with 10 sub-agents and 1 gate.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749039"/>
            <a:ext cx="3611880" cy="201168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6350">
            <a:solidFill>
              <a:srgbClr val="23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12480" y="4023359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023359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E3B054"/>
                </a:solidFill>
                <a:latin typeface="Menlo"/>
              </a:rPr>
              <a:t>surface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4023359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D4F57"/>
                </a:solidFill>
                <a:latin typeface="Menlo"/>
              </a:rPr>
              <a:t>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4480559"/>
            <a:ext cx="306324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617719"/>
            <a:ext cx="3063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DEDEF"/>
                </a:solidFill>
                <a:latin typeface="Inter"/>
              </a:rPr>
              <a:t>Two surfaces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074919"/>
            <a:ext cx="3063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Run from Claude Code CLI or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8B9BE"/>
                </a:solidFill>
                <a:latin typeface="Inter"/>
              </a:rPr>
              <a:t>from the Bosch SDLC dashboard.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EDEDEF"/>
                </a:solidFill>
                <a:latin typeface="Inter"/>
              </a:rPr>
              <a:t>Questions?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6053328"/>
            <a:ext cx="4800600" cy="365760"/>
          </a:xfrm>
          <a:prstGeom prst="roundRect">
            <a:avLst>
              <a:gd name="adj" fmla="val 50000"/>
            </a:avLst>
          </a:prstGeom>
          <a:solidFill>
            <a:srgbClr val="142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6053328"/>
            <a:ext cx="4800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DD5DA"/>
                </a:solidFill>
                <a:latin typeface="Menlo"/>
              </a:rPr>
              <a:t>/analyse  →  /generate  →  /claudboard-workflow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537960"/>
            <a:ext cx="11155680" cy="6000"/>
          </a:xfrm>
          <a:prstGeom prst="rect">
            <a:avLst/>
          </a:prstGeom>
          <a:solidFill>
            <a:srgbClr val="23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