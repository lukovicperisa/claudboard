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45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017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931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846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303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60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17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75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89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46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03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1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18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75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332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89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47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704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74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88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645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03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560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017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474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931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389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846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303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760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217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675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589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046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503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961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418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875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332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789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247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704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74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31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8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645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103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560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017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474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931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389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846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303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760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217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675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132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7589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046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503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961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418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875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332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789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247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704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74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731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188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645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103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560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017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474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3931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389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846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303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5760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217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675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7132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589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046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503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961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9418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9875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0332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789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1247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704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274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31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88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645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2103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560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3017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474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3931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389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846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303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760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6217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6675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132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7589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8046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8503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8961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9418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9875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0332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0789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1247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1704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274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31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188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645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2103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2560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3017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3474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3931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4389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4846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5303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760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6217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6675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7132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7589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8046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8503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8961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9418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9875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0332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0789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1247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1704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274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731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188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645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2103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2560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3017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3474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3931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4846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5303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5760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6217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6675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7132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7589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8046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8503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8961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9418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9875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0332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0789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1247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1704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274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731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188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645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2103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2560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3017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3474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3931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4389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4846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5303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5760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6217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6675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7132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7589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8046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8503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8961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9418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9875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10332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10789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1247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1704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74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731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1188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1645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103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60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3017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3474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3931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4389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846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5303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5760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6217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6675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7132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7589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8046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8503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8961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9418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9875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0332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10789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11247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1704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274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731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1188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1645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2103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2560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17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3474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3931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4389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4846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5303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5760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6217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6675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7132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7589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8046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8503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8961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9418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9875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10332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10789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11247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11704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74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731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1188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1645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103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560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3017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3474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3931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4389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5303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5760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6217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6675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7132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7589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8046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8503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8961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9418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10332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10789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11247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11704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ounded Rectangle 288"/>
          <p:cNvSpPr/>
          <p:nvPr/>
        </p:nvSpPr>
        <p:spPr>
          <a:xfrm>
            <a:off x="548640" y="54864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548640" y="548640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932688" y="566928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965960" y="603504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965960" y="59436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315200" y="594360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Inter"/>
              </a:rPr>
              <a:t>TEAM REVIEW  ·  50-DAY BUILD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48640" y="2194560"/>
            <a:ext cx="109728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D5DA"/>
                </a:solidFill>
                <a:latin typeface="Menlo"/>
              </a:rPr>
              <a:t>AUTONOMOUS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48640" y="2514600"/>
            <a:ext cx="109728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EDEDEF"/>
                </a:solidFill>
                <a:latin typeface="Inter"/>
              </a:rPr>
              <a:t>Feature delivery,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48640" y="3429000"/>
            <a:ext cx="109728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B8B9BE"/>
                </a:solidFill>
                <a:latin typeface="Inter"/>
              </a:rPr>
              <a:t>with one human gate.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97B83"/>
                </a:solidFill>
                <a:latin typeface="Inter"/>
              </a:rPr>
              <a:t>Two components. Same workflow. Any Bosch repo.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548640" y="5440680"/>
            <a:ext cx="2263140" cy="36576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713232" y="54406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vertical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508760" y="5440680"/>
            <a:ext cx="12115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DEDEF"/>
                </a:solidFill>
                <a:latin typeface="Inter"/>
              </a:rPr>
              <a:t>claudboard plugin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2948940" y="5440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113532" y="54406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horizontal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909060" y="544068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DEDEF"/>
                </a:solidFill>
                <a:latin typeface="Inter"/>
              </a:rPr>
              <a:t>feature-workflow skill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5737860" y="5440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TextBox 305"/>
          <p:cNvSpPr txBox="1"/>
          <p:nvPr/>
        </p:nvSpPr>
        <p:spPr>
          <a:xfrm>
            <a:off x="5902452" y="5440680"/>
            <a:ext cx="914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surface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697980" y="544068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DEDEF"/>
                </a:solidFill>
                <a:latin typeface="Inter"/>
              </a:rPr>
              <a:t>Claude CLI  ·  SDLC UI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48640" y="626364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4F57"/>
                </a:solidFill>
                <a:latin typeface="Menlo"/>
              </a:rPr>
              <a:t>AI SDLC INITIATIVE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315200" y="63550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claude-repo-scan  +  bosch-sdlc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WHY WE BUILT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A typical feature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Three high-touch phases. Most of it is repetitive context-shuffling.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A78BF0"/>
                </a:solidFill>
                <a:latin typeface="Menl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8036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1188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3063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Ticket grooming · clarification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back-and-forth with stakeholders.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56032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0" y="2880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4DD5DA"/>
                </a:solidFill>
                <a:latin typeface="Menl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8036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Specify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20040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61188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3749040"/>
            <a:ext cx="3063240" cy="5461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1200" b="0">
                <a:solidFill>
                  <a:srgbClr val="B8B9BE"/>
                </a:solidFill>
                <a:latin typeface="Inter"/>
              </a:rPr>
              <a:t>Technical decisions </a:t>
            </a:r>
            <a:r>
              <a:rPr sz="1200" b="0">
                <a:solidFill>
                  <a:srgbClr val="B8B9BE"/>
                </a:solidFill>
                <a:latin typeface="Inter"/>
              </a:rPr>
              <a:t>· </a:t>
            </a:r>
            <a:r>
              <a:rPr sz="1200" b="0" dirty="0">
                <a:solidFill>
                  <a:srgbClr val="B8B9BE"/>
                </a:solidFill>
                <a:latin typeface="Inter"/>
              </a:rPr>
              <a:t>design</a:t>
            </a:r>
          </a:p>
          <a:p>
            <a:pPr algn="l">
              <a:lnSpc>
                <a:spcPct val="145000"/>
              </a:lnSpc>
            </a:pPr>
            <a:r>
              <a:rPr sz="1200" b="0" dirty="0">
                <a:solidFill>
                  <a:srgbClr val="B8B9BE"/>
                </a:solidFill>
                <a:latin typeface="Inter"/>
              </a:rPr>
              <a:t>architecture · plan decomposition.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56032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66760" y="2880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28803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3B054"/>
                </a:solidFill>
                <a:latin typeface="Menlo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88036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Implement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20040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61188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3749040"/>
            <a:ext cx="3063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Branch · code · test · review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commit · open PR · finalize ticket.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029200"/>
            <a:ext cx="36576" cy="1280160"/>
          </a:xfrm>
          <a:prstGeom prst="rect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" y="534924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3492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4DD5DA"/>
                </a:solidFill>
                <a:latin typeface="Menlo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25780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OUR BET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532120"/>
            <a:ext cx="960120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EDEDEF"/>
                </a:solidFill>
                <a:latin typeface="Inter"/>
              </a:rPr>
              <a:t>Most of this can run autonomously — if Claude knows the project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EDEDEF"/>
                </a:solidFill>
                <a:latin typeface="Inter"/>
              </a:rPr>
              <a:t>and follows a deterministic, instrumented workflow.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Two components. One goal.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The plugin makes Claude project-aware. The workflow uses that awareness to 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548640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28346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VERTICAL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83464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97B83"/>
                </a:solidFill>
                <a:latin typeface="Menlo"/>
              </a:rPr>
              <a:t>project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4937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DEDEF"/>
                </a:solidFill>
                <a:latin typeface="Inter"/>
              </a:rPr>
              <a:t>claudboard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8B9BE"/>
                </a:solidFill>
                <a:latin typeface="Inter"/>
              </a:rPr>
              <a:t>Teaches Claude any repo in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4937760" cy="155447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/analyse    scan stack, patterns, conventions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/generate   CLAUDE.md, rules, scoped skills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/refresh    keep artifacts in sync with code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/techdebt   ticket-ready refactor backlog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560320"/>
            <a:ext cx="548640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46520" y="283464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834640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HORIZONTAL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97B83"/>
                </a:solidFill>
                <a:latin typeface="Menlo"/>
              </a:rPr>
              <a:t>feature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40"/>
            <a:ext cx="4937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DEDEF"/>
                </a:solidFill>
                <a:latin typeface="Inter"/>
              </a:rPr>
              <a:t>feature-workflow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8B9BE"/>
                </a:solidFill>
                <a:latin typeface="Inter"/>
              </a:rPr>
              <a:t>Runs the full feature lifecycle, autonomously.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4937760" cy="155447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7 phases — ticket → PR → finalize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10 specialized sub-agents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1 human gate (spec + plan)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Runs in Claude CLI or in the Bosch SDLC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COMPONENT 1  · 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claudboard — onboarding any repo.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Four sub-commands. Each one is a full-scope skill, not a stub.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DD5DA"/>
                </a:solidFill>
                <a:latin typeface="Menlo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3464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5468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Read-only deep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Detects stack, frameworks,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architecture, conventions,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CI/CD, anti-patterns.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DD5DA"/>
                </a:solidFill>
                <a:latin typeface="Inter"/>
              </a:rPr>
              <a:t>full-scope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1188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278892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5BD89A"/>
                </a:solidFill>
                <a:latin typeface="Menlo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3464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15468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1880" y="37033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Author .claude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1148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CLAUDE.md, rules with paths,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full-scope skills with refs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and scripts.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80" y="5212080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5BD89A"/>
                </a:solidFill>
                <a:latin typeface="Inter"/>
              </a:rPr>
              <a:t>full-scope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4652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278892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E3B054"/>
                </a:solidFill>
                <a:latin typeface="Menlo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83464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/refresh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15468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37033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Delta updates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1148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Re-scans, diffs against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existing artifacts, updates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only what changed.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212080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E3B054"/>
                </a:solidFill>
                <a:latin typeface="Inter"/>
              </a:rPr>
              <a:t>full-scope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28116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81160" y="278892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A78BF0"/>
                </a:solidFill>
                <a:latin typeface="Menlo"/>
              </a:rP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834640"/>
            <a:ext cx="1600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/techdebt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315468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81160" y="37033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Refactor backlog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1148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Module-grouped, ticket-ready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report with severity, effort,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and fix suggestions.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8116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81160" y="5212080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A78BF0"/>
                </a:solidFill>
                <a:latin typeface="Inter"/>
              </a:rPr>
              <a:t>full-scope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897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5897880"/>
            <a:ext cx="36576" cy="457200"/>
          </a:xfrm>
          <a:prstGeom prst="rect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5897880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Workspace mode  ·  one meta-repo holds shared .claude/ for N service repos.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COMPONENT 2  ·  HORIZONTAL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feature-workflow — 7 phases, 1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Phase 1 produces a spec and a plan. You approve them once. Everything else is autonomous.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" y="3086100"/>
            <a:ext cx="10287000" cy="6000"/>
          </a:xfrm>
          <a:prstGeom prst="rect">
            <a:avLst/>
          </a:prstGeom>
          <a:solidFill>
            <a:srgbClr val="2E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8056" y="2596896"/>
            <a:ext cx="978408" cy="978408"/>
          </a:xfrm>
          <a:prstGeom prst="ellipse">
            <a:avLst/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2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1208" y="2670048"/>
            <a:ext cx="832104" cy="832104"/>
          </a:xfrm>
          <a:prstGeom prst="ellipse">
            <a:avLst/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E3B054"/>
                </a:solidFill>
                <a:latin typeface="Menl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Ticket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Clarify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Spec ·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E3B054"/>
                </a:solidFill>
                <a:latin typeface="Menlo"/>
              </a:rPr>
              <a:t>gate</a:t>
            </a:r>
          </a:p>
        </p:txBody>
      </p:sp>
      <p:sp>
        <p:nvSpPr>
          <p:cNvPr id="21" name="Oval 20"/>
          <p:cNvSpPr/>
          <p:nvPr/>
        </p:nvSpPr>
        <p:spPr>
          <a:xfrm>
            <a:off x="21625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174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2357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174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16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Branch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888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888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28" name="Oval 27"/>
          <p:cNvSpPr/>
          <p:nvPr/>
        </p:nvSpPr>
        <p:spPr>
          <a:xfrm>
            <a:off x="38770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931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9502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Develop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&amp;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033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35" name="Oval 34"/>
          <p:cNvSpPr/>
          <p:nvPr/>
        </p:nvSpPr>
        <p:spPr>
          <a:xfrm>
            <a:off x="55915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6464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647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464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06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Commit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178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178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42" name="Oval 41"/>
          <p:cNvSpPr/>
          <p:nvPr/>
        </p:nvSpPr>
        <p:spPr>
          <a:xfrm>
            <a:off x="73060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60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792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609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49" name="Oval 48"/>
          <p:cNvSpPr/>
          <p:nvPr/>
        </p:nvSpPr>
        <p:spPr>
          <a:xfrm>
            <a:off x="90205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0754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0937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754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96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Pull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Request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468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468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56" name="Oval 55"/>
          <p:cNvSpPr/>
          <p:nvPr/>
        </p:nvSpPr>
        <p:spPr>
          <a:xfrm>
            <a:off x="107350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789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8082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789920" y="2816352"/>
            <a:ext cx="8686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3657600"/>
            <a:ext cx="1600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Finalize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61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61320" y="4434840"/>
            <a:ext cx="1325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" y="210312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▲  HUMAN GATE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84632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10 SPECIALIZED SUB-AGENTS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1206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Each one gets only the tools it needs and a self-contained prompt.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5669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4360" y="5788152"/>
            <a:ext cx="73152" cy="73152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04088" y="5669280"/>
            <a:ext cx="11887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sdd-expert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93392" y="56692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084832" y="5788152"/>
            <a:ext cx="73152" cy="73152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194560" y="5669280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architect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92424" y="5669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483864" y="5788152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593592" y="5669280"/>
            <a:ext cx="11887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jira-agent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82896" y="56692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4974336" y="5788152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084064" y="5669280"/>
            <a:ext cx="10058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tr-agent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90488" y="56692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281928" y="5788152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91656" y="5669280"/>
            <a:ext cx="13716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pr-agent-ado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63840" y="566928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7955280" y="5788152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65008" y="5669280"/>
            <a:ext cx="1645919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pr-agent-github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811511" y="56692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902951" y="5788152"/>
            <a:ext cx="73152" cy="73152"/>
          </a:xfrm>
          <a:prstGeom prst="ellipse">
            <a:avLst/>
          </a:prstGeom>
          <a:solidFill>
            <a:srgbClr val="5B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012679" y="5669280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BD89A"/>
                </a:solidFill>
                <a:latin typeface="Inter"/>
              </a:rPr>
              <a:t>git-agent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2920" y="6071616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94360" y="6190488"/>
            <a:ext cx="73152" cy="73152"/>
          </a:xfrm>
          <a:prstGeom prst="ellipse">
            <a:avLst/>
          </a:prstGeom>
          <a:solidFill>
            <a:srgbClr val="5B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4088" y="6071616"/>
            <a:ext cx="1554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BD89A"/>
                </a:solidFill>
                <a:latin typeface="Inter"/>
              </a:rPr>
              <a:t>implementation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59152" y="607161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450592" y="6190488"/>
            <a:ext cx="73152" cy="73152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560320" y="6071616"/>
            <a:ext cx="14630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Inter"/>
              </a:rPr>
              <a:t>spec-reviewer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23944" y="6071616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215384" y="6190488"/>
            <a:ext cx="73152" cy="73152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5112" y="6071616"/>
            <a:ext cx="1645919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Inter"/>
              </a:rPr>
              <a:t>design-reviewer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TICKET, CLARIFY, SPEC,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Refine the idea — once, deeply.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Ticket created or fetched. The user picks a clarification level. A BDD spec and an execution plan are produced and approved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phase 1  · 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E3B054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Sub-phases  1-pre  →  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1-pre · jira-agent / tr-agent — create or fetch ticket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1-syn · Stated synthesis — print what we heard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1a · Clarify scope — autopilot / balanced / guided / manual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1b · sdd-expert-agent — Gherkin actor·action·outcome spec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1c · architect-agent — execution plan with checkpoints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1d · HUMAN GATE — review spec + plan, approve or return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Why this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One gate, not five — context isn't lost between phases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Spec + plan committed with the feature, not throwaway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Clarification autonomy lever — skip or get full rubric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 rejection, sub-agents re-spin with user's change notes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Workflow start timestamp recorded for time + cost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355080"/>
            <a:ext cx="11155680" cy="32004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64739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▲  THIS IS THE ONLY HUMAN GATE IN THE ENTIRE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BRANCH AND DEVELOP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Branch out, then implement checkpoint by checkpoint.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Once the plan is approved, the workflow opens a branch and walks the checkpoint list. Baseline verification runs in parallel with checkpoint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phase 2 · 3  · 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DD5DA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2  · 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creates a clean branch from main / master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Naming follows project convention — feature/&lt;ticket&gt;/&lt;slug&gt;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Main branch auto-detected — no per-repo config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3  ·  Develop &amp;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implementation-agent runs build → test → lint → live loops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Baseline + checkpoint 1 launched IN PARALLEL (background)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If baseline fails — workflow stops immediately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Recoverable failures stay in the loop, ticket untouched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Workspace mode: one branch name across N affected repos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COMMIT AND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Clean history, then two independent reviewers.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git-agent squashes checkpoint commits into one meaningful commit. Two reviewer agents check spec coverage and code quality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phase 4 · 5  · 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A78BF0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4  · 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A78BF0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 stage → squash → commit with structured message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A78BF0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Commit message ties back to ticket and approved spec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A78BF0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Pre-commit hooks honoured — never bypassed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5  · 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spec-reviewer — does the code satisfy every BDD scenario?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design-reviewer — code quality vs repo rules + conventions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 findings — implementation-agent applies fixes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amends — reviewer re-runs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Loop until both reviewers pass — no human in the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PR AND FINALIZE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Open the PR, log the work, transition the ticket.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Code is pushed and a pull request is opened. The ticket is updated with the worklog, the AI cost analysis, and a success transition.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5B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BD89A"/>
                </a:solidFill>
                <a:latin typeface="Menlo"/>
              </a:rPr>
              <a:t>phase 6 · 7  · 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5BD89A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6  ·  Pull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validates PR readiness, syncs and pushes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pr-agent-ado / pr-agent-github creates the PR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GitHub — 'Closes #N' linking + Actions run verification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Workspace mode — PRs in parallel, merge order printed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7  ·  Finalize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jira / tr-agent logs refinement + implementation time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Comment with cost analysis — tokens and USD per phase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Ticket transitions to its success state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 failure — optional failure_transition fires automatically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Full transcript persisted as JSONL — forensic record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HOW YOU RUN IT  ·  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Claude Code CLI — the developer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Inside any onboarded repo, open Claude Code and start the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7315200" cy="3749039"/>
          </a:xfrm>
          <a:prstGeom prst="roundRect">
            <a:avLst>
              <a:gd name="adj" fmla="val 4000"/>
            </a:avLst>
          </a:prstGeom>
          <a:solidFill>
            <a:srgbClr val="0E0F11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7315200" cy="292608"/>
          </a:xfrm>
          <a:prstGeom prst="rect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7315200" cy="292608"/>
          </a:xfrm>
          <a:prstGeom prst="roundRect">
            <a:avLst>
              <a:gd name="adj" fmla="val 6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752344"/>
            <a:ext cx="7315200" cy="146304"/>
          </a:xfrm>
          <a:prstGeom prst="rect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0936" y="2688336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2688336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6424" y="2688336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642616"/>
            <a:ext cx="7315200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claude  ·  ~/repos/platform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98648"/>
            <a:ext cx="731520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063240"/>
            <a:ext cx="676656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EDEDEF"/>
                </a:solidFill>
                <a:latin typeface="Menlo"/>
              </a:rPr>
              <a:t>$ claude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4DD5DA"/>
                </a:solidFill>
                <a:latin typeface="Menlo"/>
              </a:rPr>
              <a:t>&gt; /start-feature Add export-as-CSV to user list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DEDEF"/>
                </a:solidFill>
                <a:latin typeface="Menlo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3B054"/>
                </a:solidFill>
                <a:latin typeface="Menlo"/>
              </a:rPr>
              <a:t>clarification autonomy: balanced — accept [enter] or override?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4DD5DA"/>
                </a:solidFill>
                <a:latin typeface="Menlo"/>
              </a:rPr>
              <a:t>&gt; [enter]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DEDEF"/>
                </a:solidFill>
                <a:latin typeface="Menlo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1-pre  ✓  ticket PLAT-42117 created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1-syn  ✓  synthesis printed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1a     ✓  4 dimensions clarified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1b     ✓  business-behavior-spec.md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1c     ✓  execution-plan.md  (5 checkpoints)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3B054"/>
                </a:solidFill>
                <a:latin typeface="Menlo"/>
              </a:rPr>
              <a:t>phase 1d     ▲  awaiting your approval (spec + plan)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606040"/>
            <a:ext cx="356616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66760" y="3383280"/>
            <a:ext cx="301752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66760" y="288036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288036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DD5DA"/>
                </a:solidFill>
                <a:latin typeface="Menlo"/>
              </a:rPr>
              <a:t>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898648"/>
            <a:ext cx="2651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for developers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6616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Where it shines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977640"/>
            <a:ext cx="3017520" cy="219455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Zero setup beyond Claude Code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Full terminal feedback, fast iteration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Best for the person who wrote the ticket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Same workflow, same skill files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Great for spikes and quick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HOW YOU RUN IT  ·  OPTION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Bosch SDLC UI — the dashboard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Same workflow, driven by a local web app. One command — npx bosch-sdlc.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731520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2606040"/>
            <a:ext cx="7315200" cy="292608"/>
          </a:xfrm>
          <a:prstGeom prst="roundRect">
            <a:avLst>
              <a:gd name="adj" fmla="val 6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752344"/>
            <a:ext cx="7315200" cy="146304"/>
          </a:xfrm>
          <a:prstGeom prst="rect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0936" y="2688336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2688336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6424" y="2688336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642616"/>
            <a:ext cx="7315200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claudboard  ·  localhost:3001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98648"/>
            <a:ext cx="731520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898648"/>
            <a:ext cx="7260336" cy="342899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92440" y="2606040"/>
            <a:ext cx="356616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3383280"/>
            <a:ext cx="301752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66760" y="288036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288036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E3B054"/>
                </a:solidFill>
                <a:latin typeface="Menlo"/>
              </a:rPr>
              <a:t>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898648"/>
            <a:ext cx="2651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for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56616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Where it shines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977640"/>
            <a:ext cx="3017520" cy="219455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Non-engineers can monitor + gate runs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Live phase / checkpoint / agent events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Pipeline, Stream, Telemetry panes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Reuses your Claude Code MCP config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Per-run JSONL transcripts on disk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BUILT FOR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One toolchain — every Bosch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The plugin generates the right artifacts for whichever topology you have.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6968" y="2971800"/>
            <a:ext cx="109728" cy="109728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monolith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Single 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3192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306324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Plugin generates .claude/ in the repo.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Workflow lives at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.claude/skills/feature-workflow/.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B8B9BE"/>
              </a:solidFill>
              <a:latin typeface="Inter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1 ticket → 1 branch → 1 PR.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6060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0" y="2880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81728" y="2971800"/>
            <a:ext cx="109728" cy="109728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880360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monorepo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One repo, many 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93192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306324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Same install as a single repo.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No scope picker — agents pick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affected modules from the prompt.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B8B9BE"/>
              </a:solidFill>
              <a:latin typeface="Inter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1 ticket → 1 branch → 1 PR.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6060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66760" y="2880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76488" y="2971800"/>
            <a:ext cx="109728" cy="109728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41080" y="2880360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38328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N independent repos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93192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4069080"/>
            <a:ext cx="306324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Workspace meta-repo holds the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shared .claude/.</a:t>
            </a:r>
          </a:p>
          <a:p>
            <a:pPr algn="l">
              <a:lnSpc>
                <a:spcPct val="145000"/>
              </a:lnSpc>
            </a:pPr>
            <a:endParaRPr sz="1200" b="0">
              <a:solidFill>
                <a:srgbClr val="B8B9BE"/>
              </a:solidFill>
              <a:latin typeface="Inter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1 ticket → N branches → N PRs.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Merge order printed at the end.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03504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6035040"/>
            <a:ext cx="36576" cy="411480"/>
          </a:xfrm>
          <a:prstGeom prst="rect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9728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B9BE"/>
                </a:solidFill>
                <a:latin typeface="Menlo"/>
              </a:rPr>
              <a:t>same install  ·  same workflow  ·  same UI  ·  same telemetry  ·  for any repo onboarded with claudboard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66928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603504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65960" y="59436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94360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END  ·  Q &amp; 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5156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D5DA"/>
                </a:solidFill>
                <a:latin typeface="Menlo"/>
              </a:rPr>
              <a:t>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EDEDEF"/>
                </a:solidFill>
                <a:latin typeface="Inter"/>
              </a:rPr>
              <a:t>Two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B8B9BE"/>
                </a:solidFill>
                <a:latin typeface="Inter"/>
              </a:rPr>
              <a:t>One gate. Any repo.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3611880" cy="20116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023359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59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A78BF0"/>
                </a:solidFill>
                <a:latin typeface="Menlo"/>
              </a:rPr>
              <a:t>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023359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D4F57"/>
                </a:solidFill>
                <a:latin typeface="Menlo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0559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19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19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claudboard onboards any repo: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analyse · generate · refresh · techdebt.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611880" cy="20116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17720" y="4023359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023359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DD5DA"/>
                </a:solidFill>
                <a:latin typeface="Menlo"/>
              </a:rPr>
              <a:t>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23359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D4F57"/>
                </a:solidFill>
                <a:latin typeface="Menlo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4480559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617719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74919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feature-workflow runs the lifecycle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with 10 sub-agents and 1 gate.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49039"/>
            <a:ext cx="3611880" cy="20116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0" y="4023359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59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E3B054"/>
                </a:solidFill>
                <a:latin typeface="Menlo"/>
              </a:rPr>
              <a:t>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4023359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D4F57"/>
                </a:solidFill>
                <a:latin typeface="Menlo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480559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19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Two surfaces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074919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Run from Claude Code CLI or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from the Bosch SDLC dashboard.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DEDEF"/>
                </a:solidFill>
                <a:latin typeface="Inter"/>
              </a:rPr>
              <a:t>Questions?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6053328"/>
            <a:ext cx="4800600" cy="36576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6053328"/>
            <a:ext cx="48006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DD5DA"/>
                </a:solidFill>
                <a:latin typeface="Menlo"/>
              </a:rPr>
              <a:t>/analyse  →  /generate  →  /claudboard-workflow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53796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SECTION F  ·  MEASUREMENT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Metrics for Agentic SDLC Adoption.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How to measure whether the human-agent delivery system is producing validated value — not just more AI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11155680" cy="12801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36576" cy="1280160"/>
          </a:xfrm>
          <a:prstGeom prst="rect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DD5DA"/>
                </a:solidFill>
                <a:latin typeface="Inter"/>
              </a:rPr>
              <a:t>CENTRAL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Are we producing more validated value, with acceptable quality, cost, resilience, and learning?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3566040" cy="10058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60"/>
            <a:ext cx="292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Measure validated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320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Not AI activity. Prompts submitted, LOC generated, and tickets closed are not success metrics.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840" y="4114800"/>
            <a:ext cx="3566040" cy="10058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720" y="4251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760" y="4251960"/>
            <a:ext cx="292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Separate output from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720" y="4572000"/>
            <a:ext cx="320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Producing more artifacts faster does not mean delivering more value.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0760" y="4114800"/>
            <a:ext cx="3566040" cy="10058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640" y="4251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680" y="4251960"/>
            <a:ext cx="292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Segment by work type +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640" y="4572000"/>
            <a:ext cx="320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 70% autonomous rate is fine for config, dangerous for payments.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03520"/>
            <a:ext cx="3566040" cy="10058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40680"/>
            <a:ext cx="292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Small operating scorecard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60720"/>
            <a:ext cx="320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Compact scorecard + diagnostic families. Not a reporting burden.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840" y="5303520"/>
            <a:ext cx="3566040" cy="10058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72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760" y="5440680"/>
            <a:ext cx="292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Metrics for learning first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720" y="5760720"/>
            <a:ext cx="320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Help teams learn where agents help, where humans are overloaded, where validation is weak.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0760" y="5303520"/>
            <a:ext cx="3566040" cy="10058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64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680" y="5440680"/>
            <a:ext cx="292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Balance five dimensions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640" y="5760720"/>
            <a:ext cx="320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Speed only counts if quality, cost, resilience, and learning hold.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CORE DEFINITIONS  · 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Five balancing dimensions.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No single metric should dominate. A healthy agentic SDLC must improve across all five.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1115568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27432" cy="640080"/>
          </a:xfrm>
          <a:prstGeom prst="rect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D5DA"/>
                </a:solidFill>
                <a:latin typeface="Inter"/>
              </a:rP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6334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How quickly work moves from intent to validated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334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7B83"/>
                </a:solidFill>
                <a:latin typeface="Inter"/>
              </a:rPr>
              <a:t>Are we faster end to end, or only generating artifacts faster?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1115568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91840"/>
            <a:ext cx="27432" cy="640080"/>
          </a:xfrm>
          <a:prstGeom prst="rect">
            <a:avLst/>
          </a:prstGeom>
          <a:solidFill>
            <a:srgbClr val="A7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0"/>
                </a:solidFill>
                <a:latin typeface="Inter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649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Whether outputs are correct, maintainable, secure, and aligned with intent.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649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7B83"/>
                </a:solidFill>
                <a:latin typeface="Inter"/>
              </a:rPr>
              <a:t>Are agentic outputs reliable enough to scale?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23360"/>
            <a:ext cx="1115568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23360"/>
            <a:ext cx="27432" cy="640080"/>
          </a:xfrm>
          <a:prstGeom prst="rect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3B054"/>
                </a:solidFill>
                <a:latin typeface="Inter"/>
              </a:rPr>
              <a:t>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0965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Total cost of producing validated change, including labor, tooling, review, rework.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0965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7B83"/>
                </a:solidFill>
                <a:latin typeface="Inter"/>
              </a:rPr>
              <a:t>Are we reducing real cost or shifting cost elsewhere?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54880"/>
            <a:ext cx="1115568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754880"/>
            <a:ext cx="27432" cy="640080"/>
          </a:xfrm>
          <a:prstGeom prst="rect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DA80"/>
                </a:solidFill>
                <a:latin typeface="Inter"/>
              </a:rPr>
              <a:t>Resilience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8280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Ability to maintain control, recover from errors, avoid brittle dependence.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828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7B83"/>
                </a:solidFill>
                <a:latin typeface="Inter"/>
              </a:rPr>
              <a:t>Can the system absorb failures without losing control?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86400"/>
            <a:ext cx="1115568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486400"/>
            <a:ext cx="27432" cy="640080"/>
          </a:xfrm>
          <a:prstGeom prst="rect">
            <a:avLst/>
          </a:prstGeom>
          <a:solidFill>
            <a:srgbClr val="DA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577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A8B4D"/>
                </a:solidFill>
                <a:latin typeface="Inter"/>
              </a:rPr>
              <a:t>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555955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Whether people, teams, and workflows improve over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559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7B83"/>
                </a:solidFill>
                <a:latin typeface="Inter"/>
              </a:rPr>
              <a:t>Are we becoming more capable, or just more dependent?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CORE DEFINITIONS  ·  VALIDATION &amp;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What "done" means — and how serious if wrong.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Validation levels prevent ambiguity. Risk classes prevent unsafe generalization of agent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5486400" cy="37033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Validation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V0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Artifact produced by human or agent.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Technically accepted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404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Passed review, build, lint, tests.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Release-ready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06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Passed all engineering, security, compliance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Released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572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Deployed or made available to users.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Menlo"/>
              </a:rPr>
              <a:t>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EDEF"/>
                </a:solidFill>
                <a:latin typeface="Inter"/>
              </a:rPr>
              <a:t>Outcome-validated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37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Evidence of intended user/business outcome.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560320"/>
            <a:ext cx="5486400" cy="37033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Risk Classes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DA80"/>
                </a:solidFill>
                <a:latin typeface="Menlo"/>
              </a:rPr>
              <a:t>R1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49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Limited blast radius, reversible.  →  High autonomy acceptable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D5DA"/>
                </a:solidFill>
                <a:latin typeface="Menlo"/>
              </a:rPr>
              <a:t>R2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023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Moderate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2976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Some impact, testable and reversible.  →  Agent + human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054"/>
                </a:solidFill>
                <a:latin typeface="Menlo"/>
              </a:rPr>
              <a:t>R3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8463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Significant customer/business/data impact.  →  Tight human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120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4D4D"/>
                </a:solidFill>
                <a:latin typeface="Menlo"/>
              </a:rPr>
              <a:t>R4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394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Legal, compliance, financial, safety.  →  Human-led or strictly gated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CORE DEFINITIONS  ·  WORK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Six work types — segment everything.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Aggregated metrics are misleading. Work type describes what kind of engineering work is performed, not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3566040" cy="17373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27432" cy="1737360"/>
          </a:xfrm>
          <a:prstGeom prst="rect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D5DA"/>
                </a:solidFill>
                <a:latin typeface="Menlo"/>
              </a:rPr>
              <a:t>WT1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43200"/>
            <a:ext cx="256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EDEF"/>
                </a:solidFill>
                <a:latin typeface="Inter"/>
              </a:rPr>
              <a:t>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301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Flags, CI/CD rules, access, build config.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301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Fast to execute, can be high-risk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840" y="2560320"/>
            <a:ext cx="3566040" cy="17373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840" y="2560320"/>
            <a:ext cx="27432" cy="1737360"/>
          </a:xfrm>
          <a:prstGeom prst="rect">
            <a:avLst/>
          </a:prstGeom>
          <a:solidFill>
            <a:srgbClr val="A7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16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0"/>
                </a:solidFill>
                <a:latin typeface="Menlo"/>
              </a:rPr>
              <a:t>WT2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800" y="2743200"/>
            <a:ext cx="256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EDEF"/>
                </a:solidFill>
                <a:latin typeface="Inter"/>
              </a:rPr>
              <a:t>Customization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160" y="315468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160" y="3291840"/>
            <a:ext cx="301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Modify existing behavior, flow, rule, UI.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160" y="3749040"/>
            <a:ext cx="301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Benefits from patterns, but business-rule risk can be significant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0760" y="2560320"/>
            <a:ext cx="3566040" cy="17373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760" y="2560320"/>
            <a:ext cx="27432" cy="1737360"/>
          </a:xfrm>
          <a:prstGeom prst="rect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08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054"/>
                </a:solidFill>
                <a:latin typeface="Menlo"/>
              </a:rPr>
              <a:t>WT3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720" y="2743200"/>
            <a:ext cx="256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EDEF"/>
                </a:solidFill>
                <a:latin typeface="Inter"/>
              </a:rPr>
              <a:t>New Development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080" y="315468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080" y="3291840"/>
            <a:ext cx="301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New capability, endpoint, component, flow.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080" y="3749040"/>
            <a:ext cx="301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Higher ambiguity, needs strong intent +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80560"/>
            <a:ext cx="3566040" cy="17373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480560"/>
            <a:ext cx="27432" cy="1737360"/>
          </a:xfrm>
          <a:prstGeom prst="rect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DA80"/>
                </a:solidFill>
                <a:latin typeface="Menlo"/>
              </a:rPr>
              <a:t>WT4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663440"/>
            <a:ext cx="256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EDEF"/>
                </a:solidFill>
                <a:latin typeface="Inter"/>
              </a:rPr>
              <a:t>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07492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212080"/>
            <a:ext cx="301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Connect, sync, exchange with other systems.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669280"/>
            <a:ext cx="301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Risk in contracts, auth, data mapping, failure handling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840" y="4480560"/>
            <a:ext cx="3566040" cy="17373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840" y="4480560"/>
            <a:ext cx="27432" cy="1737360"/>
          </a:xfrm>
          <a:prstGeom prst="rect">
            <a:avLst/>
          </a:prstGeom>
          <a:solidFill>
            <a:srgbClr val="DA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16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8B4D"/>
                </a:solidFill>
                <a:latin typeface="Menlo"/>
              </a:rPr>
              <a:t>WT5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800" y="4663440"/>
            <a:ext cx="256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EDEF"/>
                </a:solidFill>
                <a:latin typeface="Inter"/>
              </a:rPr>
              <a:t>Bug Fixing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160" y="507492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160" y="5212080"/>
            <a:ext cx="301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Correct existing behavior that doesn't work.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160" y="5669280"/>
            <a:ext cx="301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Agent suitability depends on root-cause clarity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0760" y="4480560"/>
            <a:ext cx="3566040" cy="173736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00760" y="4480560"/>
            <a:ext cx="27432" cy="1737360"/>
          </a:xfrm>
          <a:prstGeom prst="rect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08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4D4D"/>
                </a:solidFill>
                <a:latin typeface="Menlo"/>
              </a:rPr>
              <a:t>WT6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720" y="4663440"/>
            <a:ext cx="256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EDEF"/>
                </a:solidFill>
                <a:latin typeface="Inter"/>
              </a:rPr>
              <a:t>Refactor / Tech Debt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080" y="507492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080" y="5212080"/>
            <a:ext cx="301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Improve structure without behavior change.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080" y="5669280"/>
            <a:ext cx="301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Requires strong regression tests and architectural context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SCORECARD  ·  10 CORE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The operating scorecard.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Organized around five dimensions. A small set that tells leadership where to look.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11155680" cy="32004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054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DIMENSION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05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CORE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5054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054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INDICATOR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34640"/>
            <a:ext cx="11155680" cy="36576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97180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889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5DA"/>
                </a:solidFill>
                <a:latin typeface="Inter"/>
              </a:rPr>
              <a:t>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895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Lead time: intent →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8895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89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Lagging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3337560"/>
            <a:ext cx="91440" cy="91440"/>
          </a:xfrm>
          <a:prstGeom prst="ellipse">
            <a:avLst/>
          </a:prstGeom>
          <a:solidFill>
            <a:srgbClr val="A7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255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0"/>
                </a:solidFill>
                <a:latin typeface="Inter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255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Change failure &amp; rework 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2552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552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Lagging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66160"/>
            <a:ext cx="11155680" cy="36576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3703320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054"/>
                </a:solidFill>
                <a:latin typeface="Inter"/>
              </a:rP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6210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Cost per V2 validated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6210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Economic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21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Lagging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" y="4069080"/>
            <a:ext cx="91440" cy="91440"/>
          </a:xfrm>
          <a:prstGeom prst="ellipse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A80"/>
                </a:solidFill>
                <a:latin typeface="Inter"/>
              </a:rPr>
              <a:t>Resilience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986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Sustainable supervision 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986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986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Balancing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297680"/>
            <a:ext cx="11155680" cy="36576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4434840"/>
            <a:ext cx="91440" cy="91440"/>
          </a:xfrm>
          <a:prstGeom prst="ellipse">
            <a:avLst/>
          </a:prstGeom>
          <a:solidFill>
            <a:srgbClr val="DA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352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8B4D"/>
                </a:solidFill>
                <a:latin typeface="Inter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Prompt / intent quality improvement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3525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Capability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3525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Leading</a:t>
            </a:r>
          </a:p>
        </p:txBody>
      </p:sp>
      <p:sp>
        <p:nvSpPr>
          <p:cNvPr id="46" name="Oval 45"/>
          <p:cNvSpPr/>
          <p:nvPr/>
        </p:nvSpPr>
        <p:spPr>
          <a:xfrm>
            <a:off x="777240" y="4800600"/>
            <a:ext cx="91440" cy="91440"/>
          </a:xfrm>
          <a:prstGeom prst="ellipse">
            <a:avLst/>
          </a:prstGeom>
          <a:solidFill>
            <a:srgbClr val="A7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4718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0"/>
                </a:solidFill>
                <a:latin typeface="Inter"/>
              </a:rPr>
              <a:t>Quality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718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Defect escape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7183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Lagging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" y="5166360"/>
            <a:ext cx="91440" cy="91440"/>
          </a:xfrm>
          <a:prstGeom prst="ellipse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084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A80"/>
                </a:solidFill>
                <a:latin typeface="Inter"/>
              </a:rPr>
              <a:t>Resilience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5084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Approval latency by risk class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084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Flow/Risk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084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Balancing</a:t>
            </a:r>
          </a:p>
        </p:txBody>
      </p:sp>
      <p:sp>
        <p:nvSpPr>
          <p:cNvPr id="57" name="Oval 56"/>
          <p:cNvSpPr/>
          <p:nvPr/>
        </p:nvSpPr>
        <p:spPr>
          <a:xfrm>
            <a:off x="777240" y="5532120"/>
            <a:ext cx="91440" cy="91440"/>
          </a:xfrm>
          <a:prstGeom prst="ellipse">
            <a:avLst/>
          </a:prstGeom>
          <a:solidFill>
            <a:srgbClr val="A7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5449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0"/>
                </a:solidFill>
                <a:latin typeface="Inter"/>
              </a:rPr>
              <a:t>Quality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68880" y="5449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Agent rework rate by work 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4498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Quality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4498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Leading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7240" y="5897880"/>
            <a:ext cx="91440" cy="91440"/>
          </a:xfrm>
          <a:prstGeom prst="ellipse">
            <a:avLst/>
          </a:prstGeom>
          <a:solidFill>
            <a:srgbClr val="DA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" y="5815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8B4D"/>
                </a:solidFill>
                <a:latin typeface="Inter"/>
              </a:rPr>
              <a:t>Learning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5815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Technical understanding retention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58155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Capability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5815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Leading</a:t>
            </a:r>
          </a:p>
        </p:txBody>
      </p:sp>
      <p:sp>
        <p:nvSpPr>
          <p:cNvPr id="68" name="Oval 67"/>
          <p:cNvSpPr/>
          <p:nvPr/>
        </p:nvSpPr>
        <p:spPr>
          <a:xfrm>
            <a:off x="777240" y="6263640"/>
            <a:ext cx="91440" cy="91440"/>
          </a:xfrm>
          <a:prstGeom prst="ellipse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" y="6181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DA80"/>
                </a:solidFill>
                <a:latin typeface="Inter"/>
              </a:rPr>
              <a:t>Resilience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80" y="61813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DEF"/>
                </a:solidFill>
                <a:latin typeface="Inter"/>
              </a:rPr>
              <a:t>Context freshness score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61813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Capability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61813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Menlo"/>
              </a:rPr>
              <a:t>Leading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DIAGNOSTICS  ·  7 METRIC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The scorecard says where — diagnostics say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Don't activate all at once. Use them when a core metric signals a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68880"/>
            <a:ext cx="27432" cy="457200"/>
          </a:xfrm>
          <a:prstGeom prst="rect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5DA"/>
                </a:solidFill>
                <a:latin typeface="Inter"/>
              </a:rPr>
              <a:t>Flow &amp;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lead time or approval time worsens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249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Cycle time, review queue, deployment readiness, flow efficiency, approval backlog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1752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017520"/>
            <a:ext cx="27432" cy="457200"/>
          </a:xfrm>
          <a:prstGeom prst="rect">
            <a:avLst/>
          </a:prstGeom>
          <a:solidFill>
            <a:srgbClr val="A7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0"/>
                </a:solidFill>
                <a:latin typeface="Inter"/>
              </a:rPr>
              <a:t>Rework &amp;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quality or cost worsens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7355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Rework cost, defects after approval, regression frequency, rollback rate, root-cause clarity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6616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66160"/>
            <a:ext cx="27432" cy="457200"/>
          </a:xfrm>
          <a:prstGeom prst="rect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054"/>
                </a:solidFill>
                <a:latin typeface="Inter"/>
              </a:rPr>
              <a:t>Agent Effectiveness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deciding where to scale or restrict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82219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Accepted output ratio, autonomous completion, escalation rate, failure recurrence, traceability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1480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114800"/>
            <a:ext cx="27432" cy="457200"/>
          </a:xfrm>
          <a:prstGeom prst="rect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A80"/>
                </a:solidFill>
                <a:latin typeface="Inter"/>
              </a:rPr>
              <a:t>Supervision 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humans become the bottleneck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7083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Concurrent tasks/human, senior reviewer load, review fatigue, decision fatigue, reasoning reconstruction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66344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663440"/>
            <a:ext cx="27432" cy="457200"/>
          </a:xfrm>
          <a:prstGeom prst="rect">
            <a:avLst/>
          </a:prstGeom>
          <a:solidFill>
            <a:srgbClr val="DA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8B4D"/>
                </a:solidFill>
                <a:latin typeface="Inter"/>
              </a:rPr>
              <a:t>Cost &amp; Economics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evaluating ROI or scaling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91947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AI cost per output, cost per feature, governance cost, delayed approval cost, workflow ROI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21208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212080"/>
            <a:ext cx="27432" cy="457200"/>
          </a:xfrm>
          <a:prstGeom prst="rect">
            <a:avLst/>
          </a:prstGeom>
          <a:solidFill>
            <a:srgbClr val="DA4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4D8B"/>
                </a:solidFill>
                <a:latin typeface="Inter"/>
              </a:rPr>
              <a:t>Learning &amp; Capability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org wants to know if it's improving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4681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Workflow reuse, confidence calibration, validation maturity, context ownership, learning cycle closure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76072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760720"/>
            <a:ext cx="27432" cy="457200"/>
          </a:xfrm>
          <a:prstGeom prst="rect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4D4D"/>
                </a:solidFill>
                <a:latin typeface="Inter"/>
              </a:rPr>
              <a:t>Governance &amp;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EDEF"/>
                </a:solidFill>
                <a:latin typeface="Inter"/>
              </a:rPr>
              <a:t>When agentic workflows expand to regulated areas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601675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7B83"/>
                </a:solidFill>
                <a:latin typeface="Inter"/>
              </a:rPr>
              <a:t>Bottleneck concentration, policy exceptions, security findings, unauthorized AI usage, audit trace completeness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ADOPTION  ·  METRICS BY MATURITY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Start small — expand with maturity.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Each stage has a recommended minimum viable metric set. Don't overload early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3566040" cy="3749039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788920"/>
            <a:ext cx="1371600" cy="274320"/>
          </a:xfrm>
          <a:prstGeom prst="roundRect">
            <a:avLst/>
          </a:prstGeom>
          <a:solidFill>
            <a:srgbClr val="14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DD5DA"/>
                </a:solidFill>
                <a:latin typeface="Menlo"/>
              </a:rPr>
              <a:t>AI-Assisted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88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4F57"/>
                </a:solidFill>
                <a:latin typeface="Menl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301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97B83"/>
                </a:solidFill>
                <a:latin typeface="Inter"/>
              </a:rPr>
              <a:t>Humans drive work,</a:t>
            </a:r>
          </a:p>
          <a:p>
            <a:r>
              <a:rPr sz="1100">
                <a:solidFill>
                  <a:srgbClr val="797B83"/>
                </a:solidFill>
                <a:latin typeface="Inter"/>
              </a:rPr>
              <a:t>AI assists with coding,</a:t>
            </a:r>
          </a:p>
          <a:p>
            <a:r>
              <a:rPr sz="1100">
                <a:solidFill>
                  <a:srgbClr val="797B83"/>
                </a:solidFill>
                <a:latin typeface="Inter"/>
              </a:rPr>
              <a:t>explanation, tests, docs.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301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4DD5DA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Lead time → V2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4DD5DA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Defect escape rate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4DD5DA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Rework cost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4DD5DA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Test effectiveness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4DD5DA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Understanding retention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4DD5DA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Intent quality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19"/>
            <a:ext cx="301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D4F57"/>
                </a:solidFill>
                <a:latin typeface="Inter"/>
              </a:rPr>
              <a:t>Don't prioritize yet: leverage ratio, autonomous completion, complex governance metrics.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840" y="2560320"/>
            <a:ext cx="3566040" cy="3749039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160" y="333756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160" y="2788920"/>
            <a:ext cx="1371600" cy="274320"/>
          </a:xfrm>
          <a:prstGeom prst="roundRect">
            <a:avLst/>
          </a:prstGeom>
          <a:solidFill>
            <a:srgbClr val="20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160" y="2788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A78BF0"/>
                </a:solidFill>
                <a:latin typeface="Menlo"/>
              </a:rPr>
              <a:t>HITL Agentic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780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4F57"/>
                </a:solidFill>
                <a:latin typeface="Menlo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160" y="3474720"/>
            <a:ext cx="301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97B83"/>
                </a:solidFill>
                <a:latin typeface="Inter"/>
              </a:rPr>
              <a:t>Agents produce artifacts,</a:t>
            </a:r>
          </a:p>
          <a:p>
            <a:r>
              <a:rPr sz="1100">
                <a:solidFill>
                  <a:srgbClr val="797B83"/>
                </a:solidFill>
                <a:latin typeface="Inter"/>
              </a:rPr>
              <a:t>humans still review closely.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160" y="4206240"/>
            <a:ext cx="301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Agent rework rate by WT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Accepted output ratio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Review queue time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Human review effectiveness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Approval latency by risk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Cost per V2 change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78BF0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Context freshness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160" y="5760719"/>
            <a:ext cx="301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D4F57"/>
                </a:solidFill>
                <a:latin typeface="Inter"/>
              </a:rPr>
              <a:t>Don't prioritize yet: org-wide ratio, full P3 calculations, complex confidence calibration.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0760" y="2560320"/>
            <a:ext cx="3566040" cy="3749039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080" y="3337560"/>
            <a:ext cx="301740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75080" y="2788920"/>
            <a:ext cx="1371600" cy="274320"/>
          </a:xfrm>
          <a:prstGeom prst="roundRect">
            <a:avLst/>
          </a:prstGeom>
          <a:solidFill>
            <a:srgbClr val="2C2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080" y="2788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3B054"/>
                </a:solidFill>
                <a:latin typeface="Menlo"/>
              </a:rPr>
              <a:t>Full Agentic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672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4F57"/>
                </a:solidFill>
                <a:latin typeface="Menlo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080" y="3474720"/>
            <a:ext cx="301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97B83"/>
                </a:solidFill>
                <a:latin typeface="Inter"/>
              </a:rPr>
              <a:t>Agents execute multi-step,</a:t>
            </a:r>
          </a:p>
          <a:p>
            <a:r>
              <a:rPr sz="1100">
                <a:solidFill>
                  <a:srgbClr val="797B83"/>
                </a:solidFill>
                <a:latin typeface="Inter"/>
              </a:rPr>
              <a:t>humans govern + approve</a:t>
            </a:r>
          </a:p>
          <a:p>
            <a:r>
              <a:rPr sz="1100">
                <a:solidFill>
                  <a:srgbClr val="797B83"/>
                </a:solidFill>
                <a:latin typeface="Inter"/>
              </a:rPr>
              <a:t>+ handle exceptions.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080" y="4206240"/>
            <a:ext cx="301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Outcome-validated value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Lead time → V2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Supervision load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Leverage ratio by risk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Defects after approval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Governance bottleneck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Context freshness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3B054"/>
                </a:solidFill>
                <a:latin typeface="Menlo"/>
              </a:rPr>
              <a:t>—  </a:t>
            </a:r>
            <a:r>
              <a:rPr sz="1000">
                <a:solidFill>
                  <a:srgbClr val="B8B9BE"/>
                </a:solidFill>
                <a:latin typeface="Inter"/>
              </a:rPr>
              <a:t>Understanding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080" y="5760719"/>
            <a:ext cx="301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D4F57"/>
                </a:solidFill>
                <a:latin typeface="Inter"/>
              </a:rPr>
              <a:t>Never use as headlines: % AI code, tasks launched, prompts submitted, raw autonomous rate.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INTERPRETATION  ·  SIGNAL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When metrics conflict — what it means.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Metrics should lead to decisions. These patterns help leaders and teams interpret conflicting signals.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SIGNAL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77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LIKELY 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774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97B83"/>
                </a:solidFill>
                <a:latin typeface="Menlo"/>
              </a:rPr>
              <a:t>RECOMMENDED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2816352"/>
            <a:ext cx="91440" cy="91440"/>
          </a:xfrm>
          <a:prstGeom prst="ellipse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Lead time ↓, defect escape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Speed bought with quality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7432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Strengthen validation, reduce autonomy for risky WT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32735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Agent rework ↑, intent quality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Agents getting unclear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2004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Improve task framing, acceptance criteria,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66160"/>
            <a:ext cx="11155680" cy="4572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3730752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Review queue ↑, agent cycle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Human review is the bottleneck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6576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Add capacity, automate low-risk, risk-based approvals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" y="41879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Cost/V2 ↓, rework cost 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Savings shifted downstream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1148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Include rework in cost model, inspect suitability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80560"/>
            <a:ext cx="11155680" cy="4572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" y="4645152"/>
            <a:ext cx="91440" cy="91440"/>
          </a:xfrm>
          <a:prstGeom prst="ellipse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Autonomous ↑, understanding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Human accountability weakening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5720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Add walkthroughs, explanation requirements, audits</a:t>
            </a:r>
          </a:p>
        </p:txBody>
      </p:sp>
      <p:sp>
        <p:nvSpPr>
          <p:cNvPr id="39" name="Oval 38"/>
          <p:cNvSpPr/>
          <p:nvPr/>
        </p:nvSpPr>
        <p:spPr>
          <a:xfrm>
            <a:off x="594360" y="5102352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R1/R2 approval latency 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Governance too heavy for low-risk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50292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Delegate or automate low-risk approvals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" y="5559552"/>
            <a:ext cx="91440" cy="91440"/>
          </a:xfrm>
          <a:prstGeom prst="ellipse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R3/R4 latency ↓, defects 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Governance too shallow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4864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Strengthen evidence requirements, expert 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594360" y="60167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EDEF"/>
                </a:solidFill>
                <a:latin typeface="Inter"/>
              </a:rPr>
              <a:t>Context freshness ↓, failures 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Agents using stale knowledge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9436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Assign context owners, update critical docs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A4D4D"/>
                </a:solidFill>
                <a:latin typeface="Inter"/>
              </a:rPr>
              <a:t>ANTI-PATTERNS  ·  WHAT NOT TO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Metrics that will mislead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These metrics or behaviors should never be used as success indicators for agentic SDLC.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% of AI-generated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Measures source of code, not value, quality, or maintainability.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56032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51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Prompts per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Encourages activity instead of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8328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Agent tasks launched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490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Measures usage, not successful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8328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Pull requests opened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7490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Agents can flood the review system with low-quality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0624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97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Review speed alone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72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Encourages shallow review and rubber-stamping.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20624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297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Autonomous rate without risk 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572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Makes unsafe autonomy look like progress.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2920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20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Individual AI productivity ranking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394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Encourages gaming, fear, underreporting, poor collaboration.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029200"/>
            <a:ext cx="5486400" cy="64008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A4D4D"/>
                </a:solidFill>
                <a:latin typeface="Menlo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120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Cost reduction without rework + governance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394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7B83"/>
                </a:solidFill>
                <a:latin typeface="Inter"/>
              </a:rPr>
              <a:t>Produces fake savings.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852160"/>
            <a:ext cx="11155680" cy="45720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852160"/>
            <a:ext cx="36576" cy="457200"/>
          </a:xfrm>
          <a:prstGeom prst="rect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EDEF"/>
                </a:solidFill>
                <a:latin typeface="Inter"/>
              </a:rPr>
              <a:t>Never evaluate agentic SDLC using aggregate AI activity metrics. Use segmented, validated, risk-aware evidence.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/>
          </a:prstGeom>
          <a:solidFill>
            <a:srgbClr val="08090A"/>
          </a:solidFill>
          <a:ln>
            <a:solidFill>
              <a:srgbClr val="23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DD5DA"/>
                </a:solidFill>
                <a:latin typeface="Inter"/>
              </a:rPr>
              <a:t>DECISION  ·  SCALE / ADJUST / RESTRICT /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EDEF"/>
                </a:solidFill>
                <a:latin typeface="Inter"/>
              </a:rPr>
              <a:t>Pilot decision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97B83"/>
                </a:solidFill>
                <a:latin typeface="Inter"/>
              </a:rPr>
              <a:t>Every agentic workflow pilot should define baseline, comparison, and decision thresholds before rollout.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2651760" cy="25603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27432" cy="2560320"/>
          </a:xfrm>
          <a:prstGeom prst="rect">
            <a:avLst/>
          </a:prstGeom>
          <a:solidFill>
            <a:srgbClr val="4DD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834640"/>
            <a:ext cx="457200" cy="457200"/>
          </a:xfrm>
          <a:prstGeom prst="roundRect">
            <a:avLst/>
          </a:prstGeom>
          <a:solidFill>
            <a:srgbClr val="14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DDA80"/>
                </a:solidFill>
                <a:latin typeface="Menlo"/>
              </a:rP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29000"/>
            <a:ext cx="210312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Lead time improves, quality stable or better, rework stable or lower, supervision sustainable, cost improves.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560320"/>
            <a:ext cx="2651760" cy="25603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7432" cy="2560320"/>
          </a:xfrm>
          <a:prstGeom prst="rect">
            <a:avLst/>
          </a:prstGeom>
          <a:solidFill>
            <a:srgbClr val="E3B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11880" y="2834640"/>
            <a:ext cx="457200" cy="457200"/>
          </a:xfrm>
          <a:prstGeom prst="roundRect">
            <a:avLst/>
          </a:prstGeom>
          <a:solidFill>
            <a:srgbClr val="2C2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3B054"/>
                </a:solidFill>
                <a:latin typeface="Menlo"/>
              </a:rPr>
              <a:t>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Adjust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429000"/>
            <a:ext cx="210312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35661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Speed improves but rework, review load, or approval latency rises. Tune the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560320"/>
            <a:ext cx="2651760" cy="25603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560320"/>
            <a:ext cx="27432" cy="2560320"/>
          </a:xfrm>
          <a:prstGeom prst="rect">
            <a:avLst/>
          </a:prstGeom>
          <a:solidFill>
            <a:srgbClr val="DA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46520" y="2834640"/>
            <a:ext cx="457200" cy="457200"/>
          </a:xfrm>
          <a:prstGeom prst="roundRect">
            <a:avLst/>
          </a:prstGeom>
          <a:solidFill>
            <a:srgbClr val="2A2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A8B4D"/>
                </a:solidFill>
                <a:latin typeface="Menlo"/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Restrict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429000"/>
            <a:ext cx="210312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661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Quality, security, or understanding worsens in specific work types or risk classes. Limit to lower-risk work.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560320"/>
            <a:ext cx="2651760" cy="25603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2560320"/>
            <a:ext cx="27432" cy="2560320"/>
          </a:xfrm>
          <a:prstGeom prst="rect">
            <a:avLst/>
          </a:prstGeom>
          <a:solidFill>
            <a:srgbClr val="DA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81160" y="2834640"/>
            <a:ext cx="457200" cy="457200"/>
          </a:xfrm>
          <a:prstGeom prst="roundRect">
            <a:avLst/>
          </a:prstGeom>
          <a:solidFill>
            <a:srgbClr val="2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A4D4D"/>
                </a:solidFill>
                <a:latin typeface="Menlo"/>
              </a:rPr>
              <a:t>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EDEF"/>
                </a:solidFill>
                <a:latin typeface="Inter"/>
              </a:rPr>
              <a:t>Stop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3429000"/>
            <a:ext cx="210312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35661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9BE"/>
                </a:solidFill>
                <a:latin typeface="Inter"/>
              </a:rPr>
              <a:t>Total cost rises and quality worsens after multiple measurement cycles. Full stop and reassess.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349240"/>
            <a:ext cx="11155680" cy="960120"/>
          </a:xfrm>
          <a:prstGeom prst="roundRect">
            <a:avLst/>
          </a:prstGeom>
          <a:solidFill>
            <a:srgbClr val="13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349240"/>
            <a:ext cx="36576" cy="960120"/>
          </a:xfrm>
          <a:prstGeom prst="rect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DD5DA"/>
                </a:solidFill>
                <a:latin typeface="Inter"/>
              </a:rPr>
              <a:t>BASELINE BEFORE SCALING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B9BE"/>
                </a:solidFill>
                <a:latin typeface="Inter"/>
              </a:rPr>
              <a:t>Establish current lead time, defect/rework levels, review load, cost per change, quality expectations, and validation level. Never compare simple agentic work with complex historical human work, or V1 acceptance with V4 outcome validation.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D4F57"/>
                </a:solidFill>
                <a:latin typeface="Menlo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1660</Words>
  <Application>Microsoft Macintosh PowerPoint</Application>
  <PresentationFormat>Widescreen</PresentationFormat>
  <Paragraphs>354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Lukovic Perisa (BD/SWD-ARC9)</cp:lastModifiedBy>
  <cp:revision>2</cp:revision>
  <dcterms:created xsi:type="dcterms:W3CDTF">2013-01-27T09:14:16Z</dcterms:created>
  <dcterms:modified xsi:type="dcterms:W3CDTF">2026-05-26T06:44:42Z</dcterms:modified>
  <cp:category/>
</cp:coreProperties>
</file>